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w+K3jiB1/nhAODga3KSZ75t4Z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Welkom by Span 404 se Pre-Alfa demonstrasie. Ek is seker julle is so opgewonde soos wat ons is. Die doel van hierdie demonstrasie is om te wys hoe ver ons stelsel in die Pre-Alfa fase gevorder het, met fokus op die kernfunksie wat reeds geïmplementeer is. </a:t>
            </a:r>
            <a:endParaRPr sz="12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Akademia se funksiebeplanning is tans gefragmenteerd, wat beteken dat verskillende dele van die proses nie noodwendig in een sentrale stelsel saamwerk nie. Dinge soos gaste-inligting, RSVP’s, begroting, toerusting en toegang word apart of handmatig hanteer. Die impak hiervan is dat die proses tydrowend is, minder beheerbaar is, en dat data moeilik hergebruik kan word vir toekomstige funksies of verslagdoening. </a:t>
            </a:r>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Ons Pre-Alfa oplossing bewys die belangrikste tegniese risiko: dat Web, Mobile, API en databasis saam funksioneer.</a:t>
            </a:r>
            <a:endParaRPr/>
          </a:p>
        </p:txBody>
      </p:sp>
      <p:sp>
        <p:nvSpPr>
          <p:cNvPr id="51" name="Google Shape;5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Die kernfunksie is gekies omdat dit die hele stelsel verbind. Dit is die minimum bewys dat die oplossing tegnies kan werk.</a:t>
            </a:r>
            <a:endParaRPr/>
          </a:p>
        </p:txBody>
      </p:sp>
      <p:sp>
        <p:nvSpPr>
          <p:cNvPr id="82" name="Google Shape;8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Hier wys ons spesifiek die tale en raamwerke soos die rubriek vra. Die AI en kennisgewings is deel van die groter plan, maar die Pre-Alfa fokus bly integrasie.</a:t>
            </a:r>
            <a:endParaRPr/>
          </a:p>
        </p:txBody>
      </p:sp>
      <p:sp>
        <p:nvSpPr>
          <p:cNvPr id="102" name="Google Shape;10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Die belangrike punt: die databasis word nie direk deur die frontends gebruik nie. Alles loop deur die WebAPI.</a:t>
            </a:r>
            <a:endParaRPr/>
          </a:p>
        </p:txBody>
      </p:sp>
      <p:sp>
        <p:nvSpPr>
          <p:cNvPr id="131" name="Google Shape;13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Hierdie is die demo-logika in een skyfie. Elke toetsgeval moet deur hierdie roete beweeg en ’n verwagte uitkoms wys.</a:t>
            </a:r>
            <a:endParaRPr/>
          </a:p>
        </p:txBody>
      </p:sp>
      <p:sp>
        <p:nvSpPr>
          <p:cNvPr id="167" name="Google Shape;16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 ball.</a:t>
            </a:r>
            <a:endParaRPr/>
          </a:p>
        </p:txBody>
      </p:sp>
      <p:sp>
        <p:nvSpPr>
          <p:cNvPr id="205" name="Google Shape;20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 ball.</a:t>
            </a:r>
            <a:endParaRPr/>
          </a:p>
        </p:txBody>
      </p:sp>
      <p:sp>
        <p:nvSpPr>
          <p:cNvPr id="220" name="Google Shape;22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 ball.</a:t>
            </a:r>
            <a:endParaRPr/>
          </a:p>
        </p:txBody>
      </p:sp>
      <p:sp>
        <p:nvSpPr>
          <p:cNvPr id="238" name="Google Shape;23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 ball.</a:t>
            </a:r>
            <a:endParaRPr/>
          </a:p>
        </p:txBody>
      </p:sp>
      <p:sp>
        <p:nvSpPr>
          <p:cNvPr id="258" name="Google Shape;25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Hierdie is waarskynlik die belangrikste demo-skyfie. Dit wys presies hoe die rubriek se drie scenario’s gedek word.</a:t>
            </a:r>
            <a:endParaRPr/>
          </a:p>
        </p:txBody>
      </p:sp>
      <p:sp>
        <p:nvSpPr>
          <p:cNvPr id="284" name="Google Shape;28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Wees eerlik oor wat Pre-Alfa is: ’n bewys van kernfunksionaliteit, nie die finale produk nie.</a:t>
            </a:r>
            <a:endParaRPr/>
          </a:p>
        </p:txBody>
      </p:sp>
      <p:sp>
        <p:nvSpPr>
          <p:cNvPr id="319" name="Google Shape;31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Sluit af deur te sê dat julle nou oorgaan na die praktiese demonstrasie van die kernfunksie.</a:t>
            </a:r>
            <a:endParaRPr/>
          </a:p>
        </p:txBody>
      </p:sp>
      <p:sp>
        <p:nvSpPr>
          <p:cNvPr id="336" name="Google Shape;33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11" name="Shape 11"/>
        <p:cNvGrpSpPr/>
        <p:nvPr/>
      </p:nvGrpSpPr>
      <p:grpSpPr>
        <a:xfrm>
          <a:off x="0" y="0"/>
          <a:ext cx="0" cy="0"/>
          <a:chOff x="0" y="0"/>
          <a:chExt cx="0" cy="0"/>
        </a:xfrm>
      </p:grpSpPr>
      <p:sp>
        <p:nvSpPr>
          <p:cNvPr id="12" name="Google Shape;12;p1"/>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502920" y="594360"/>
            <a:ext cx="6858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Play"/>
              <a:buNone/>
            </a:pPr>
            <a:r>
              <a:rPr b="1" i="0" lang="en-US" sz="3400" u="none" cap="none" strike="noStrike">
                <a:solidFill>
                  <a:srgbClr val="FFFFFF"/>
                </a:solidFill>
                <a:latin typeface="Play"/>
                <a:ea typeface="Play"/>
                <a:cs typeface="Play"/>
                <a:sym typeface="Play"/>
              </a:rPr>
              <a:t>Funksie­bestuurstelsel</a:t>
            </a:r>
            <a:endParaRPr b="0" i="0" sz="3400" u="none" cap="none" strike="noStrike">
              <a:solidFill>
                <a:schemeClr val="dk1"/>
              </a:solidFill>
              <a:latin typeface="Arial"/>
              <a:ea typeface="Arial"/>
              <a:cs typeface="Arial"/>
              <a:sym typeface="Arial"/>
            </a:endParaRPr>
          </a:p>
        </p:txBody>
      </p:sp>
      <p:sp>
        <p:nvSpPr>
          <p:cNvPr id="14" name="Google Shape;14;p1"/>
          <p:cNvSpPr/>
          <p:nvPr/>
        </p:nvSpPr>
        <p:spPr>
          <a:xfrm>
            <a:off x="530352" y="1225296"/>
            <a:ext cx="6949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Arial"/>
              <a:buNone/>
            </a:pPr>
            <a:r>
              <a:rPr b="1" i="0" lang="en-US" sz="1300" u="none" cap="none" strike="noStrike">
                <a:solidFill>
                  <a:srgbClr val="0070C0"/>
                </a:solidFill>
                <a:latin typeface="Arial"/>
                <a:ea typeface="Arial"/>
                <a:cs typeface="Arial"/>
                <a:sym typeface="Arial"/>
              </a:rPr>
              <a:t>Span 404· Pre-Alfa Demonstrasie</a:t>
            </a:r>
            <a:endParaRPr b="0" i="0" sz="1300" u="none" cap="none" strike="noStrike">
              <a:solidFill>
                <a:srgbClr val="0070C0"/>
              </a:solidFill>
              <a:latin typeface="Arial"/>
              <a:ea typeface="Arial"/>
              <a:cs typeface="Arial"/>
              <a:sym typeface="Arial"/>
            </a:endParaRPr>
          </a:p>
        </p:txBody>
      </p:sp>
      <p:sp>
        <p:nvSpPr>
          <p:cNvPr id="15" name="Google Shape;15;p1"/>
          <p:cNvSpPr/>
          <p:nvPr/>
        </p:nvSpPr>
        <p:spPr>
          <a:xfrm>
            <a:off x="530352" y="1609344"/>
            <a:ext cx="7223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1DE"/>
              </a:buClr>
              <a:buSzPts val="1000"/>
              <a:buFont typeface="Arial"/>
              <a:buNone/>
            </a:pPr>
            <a:r>
              <a:rPr b="0" i="0" lang="en-US" sz="1000" u="none" cap="none" strike="noStrike">
                <a:solidFill>
                  <a:srgbClr val="C8D1DE"/>
                </a:solidFill>
                <a:latin typeface="Arial"/>
                <a:ea typeface="Arial"/>
                <a:cs typeface="Arial"/>
                <a:sym typeface="Arial"/>
              </a:rPr>
              <a:t>Mentor: Mej. Tina van Niekerk / Mev. Leah van Heerden</a:t>
            </a:r>
            <a:endParaRPr b="0" i="0" sz="1000" u="none" cap="none" strike="noStrike">
              <a:solidFill>
                <a:schemeClr val="dk1"/>
              </a:solidFill>
              <a:latin typeface="Arial"/>
              <a:ea typeface="Arial"/>
              <a:cs typeface="Arial"/>
              <a:sym typeface="Arial"/>
            </a:endParaRPr>
          </a:p>
        </p:txBody>
      </p:sp>
      <p:sp>
        <p:nvSpPr>
          <p:cNvPr id="16" name="Google Shape;16;p1"/>
          <p:cNvSpPr/>
          <p:nvPr/>
        </p:nvSpPr>
        <p:spPr>
          <a:xfrm>
            <a:off x="594360" y="2331720"/>
            <a:ext cx="3840480" cy="3154680"/>
          </a:xfrm>
          <a:prstGeom prst="roundRect">
            <a:avLst>
              <a:gd fmla="val 231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58952" y="2450592"/>
            <a:ext cx="35112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i="0" lang="en-US" sz="1300" u="none" cap="none" strike="noStrike">
                <a:solidFill>
                  <a:srgbClr val="0070C0"/>
                </a:solidFill>
                <a:latin typeface="Play"/>
                <a:ea typeface="Play"/>
                <a:cs typeface="Play"/>
                <a:sym typeface="Play"/>
              </a:rPr>
              <a:t>SPANLEDE</a:t>
            </a:r>
            <a:endParaRPr b="0" i="0" sz="1300" u="none" cap="none" strike="noStrike">
              <a:solidFill>
                <a:srgbClr val="0070C0"/>
              </a:solidFill>
              <a:latin typeface="Arial"/>
              <a:ea typeface="Arial"/>
              <a:cs typeface="Arial"/>
              <a:sym typeface="Arial"/>
            </a:endParaRPr>
          </a:p>
        </p:txBody>
      </p:sp>
      <p:sp>
        <p:nvSpPr>
          <p:cNvPr id="18" name="Google Shape;18;p1"/>
          <p:cNvSpPr/>
          <p:nvPr/>
        </p:nvSpPr>
        <p:spPr>
          <a:xfrm>
            <a:off x="758952" y="2807208"/>
            <a:ext cx="3511296" cy="25877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Geandré du Preez ·  2023010746  ·  Spanleier</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Zuandré Appelo  ·  2024110520  ·  Spanlid</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Marcel Gous  ·  2023010882  ·  Spanlid</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Renier Harmse  ·  2024050166  ·  Spanlid</a:t>
            </a:r>
            <a:endParaRPr b="0" i="0" sz="1200" u="none" cap="none" strike="noStrike">
              <a:solidFill>
                <a:schemeClr val="dk1"/>
              </a:solidFill>
              <a:latin typeface="Arial"/>
              <a:ea typeface="Arial"/>
              <a:cs typeface="Arial"/>
              <a:sym typeface="Arial"/>
            </a:endParaRPr>
          </a:p>
        </p:txBody>
      </p:sp>
      <p:sp>
        <p:nvSpPr>
          <p:cNvPr id="19" name="Google Shape;19;p1"/>
          <p:cNvSpPr/>
          <p:nvPr/>
        </p:nvSpPr>
        <p:spPr>
          <a:xfrm>
            <a:off x="4892040" y="2331720"/>
            <a:ext cx="6263640" cy="3154680"/>
          </a:xfrm>
          <a:prstGeom prst="roundRect">
            <a:avLst>
              <a:gd fmla="val 231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5056632" y="2450592"/>
            <a:ext cx="5934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i="0" lang="en-US" sz="1300" u="none" cap="none" strike="noStrike">
                <a:solidFill>
                  <a:srgbClr val="0070C0"/>
                </a:solidFill>
                <a:latin typeface="Play"/>
                <a:ea typeface="Play"/>
                <a:cs typeface="Play"/>
                <a:sym typeface="Play"/>
              </a:rPr>
              <a:t>AANBIEDINGFOKUS</a:t>
            </a:r>
            <a:endParaRPr b="0" i="0" sz="1300" u="none" cap="none" strike="noStrike">
              <a:solidFill>
                <a:srgbClr val="0070C0"/>
              </a:solidFill>
              <a:latin typeface="Arial"/>
              <a:ea typeface="Arial"/>
              <a:cs typeface="Arial"/>
              <a:sym typeface="Arial"/>
            </a:endParaRPr>
          </a:p>
        </p:txBody>
      </p:sp>
      <p:sp>
        <p:nvSpPr>
          <p:cNvPr id="21" name="Google Shape;21;p1"/>
          <p:cNvSpPr/>
          <p:nvPr/>
        </p:nvSpPr>
        <p:spPr>
          <a:xfrm>
            <a:off x="5056632" y="2807208"/>
            <a:ext cx="5934456" cy="25877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01  Probleem &amp; Pre-Alfa-doel</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02  Kernfunksie wat gedemonstreer word</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03  Web-, Mobiele-, API- en databasis-koppeling</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04  Beste-, slegste- en alternatiewe scenario’s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00"/>
              <a:buFont typeface="Arial"/>
              <a:buNone/>
            </a:pPr>
            <a:r>
              <a:rPr b="0" i="0" lang="en-US" sz="1200" u="none" cap="none" strike="noStrike">
                <a:solidFill>
                  <a:srgbClr val="C8D1DE"/>
                </a:solidFill>
                <a:latin typeface="Arial"/>
                <a:ea typeface="Arial"/>
                <a:cs typeface="Arial"/>
                <a:sym typeface="Arial"/>
              </a:rPr>
              <a:t>05  Wat werk reeds en wat volg in Alfa</a:t>
            </a:r>
            <a:endParaRPr b="0" i="0" sz="1200" u="none" cap="none" strike="noStrike">
              <a:solidFill>
                <a:schemeClr val="dk1"/>
              </a:solidFill>
              <a:latin typeface="Arial"/>
              <a:ea typeface="Arial"/>
              <a:cs typeface="Arial"/>
              <a:sym typeface="Arial"/>
            </a:endParaRPr>
          </a:p>
        </p:txBody>
      </p:sp>
      <p:sp>
        <p:nvSpPr>
          <p:cNvPr id="22" name="Google Shape;22;p1"/>
          <p:cNvSpPr/>
          <p:nvPr/>
        </p:nvSpPr>
        <p:spPr>
          <a:xfrm>
            <a:off x="9281160" y="658368"/>
            <a:ext cx="2057400" cy="292608"/>
          </a:xfrm>
          <a:prstGeom prst="roundRect">
            <a:avLst>
              <a:gd fmla="val 37500" name="adj"/>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9281160" y="731520"/>
            <a:ext cx="205740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750"/>
              <a:buFont typeface="Arial"/>
              <a:buNone/>
            </a:pPr>
            <a:r>
              <a:rPr b="1" i="0" lang="en-US" sz="750" u="none" cap="none" strike="noStrike">
                <a:solidFill>
                  <a:srgbClr val="101B2D"/>
                </a:solidFill>
                <a:latin typeface="Arial"/>
                <a:ea typeface="Arial"/>
                <a:cs typeface="Arial"/>
                <a:sym typeface="Arial"/>
              </a:rPr>
              <a:t>INHANDIGING: 15/05/2026</a:t>
            </a:r>
            <a:endParaRPr b="0" i="0" sz="750" u="none" cap="none" strike="noStrike">
              <a:solidFill>
                <a:schemeClr val="dk1"/>
              </a:solidFill>
              <a:latin typeface="Arial"/>
              <a:ea typeface="Arial"/>
              <a:cs typeface="Arial"/>
              <a:sym typeface="Arial"/>
            </a:endParaRPr>
          </a:p>
        </p:txBody>
      </p:sp>
      <p:sp>
        <p:nvSpPr>
          <p:cNvPr id="24" name="Google Shape;24;p1"/>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b="0" i="0" lang="en-US" sz="760" u="none" cap="none" strike="noStrike">
                <a:solidFill>
                  <a:srgbClr val="91A3B8"/>
                </a:solidFill>
                <a:latin typeface="Arial"/>
                <a:ea typeface="Arial"/>
                <a:cs typeface="Arial"/>
                <a:sym typeface="Arial"/>
              </a:rPr>
              <a:t>404 Sluitsteen span · DA6 Pre-Alfa · 2026</a:t>
            </a:r>
            <a:endParaRPr b="0" i="0" sz="760" u="none" cap="none" strike="noStrike">
              <a:solidFill>
                <a:schemeClr val="dk1"/>
              </a:solidFill>
              <a:latin typeface="Arial"/>
              <a:ea typeface="Arial"/>
              <a:cs typeface="Arial"/>
              <a:sym typeface="Arial"/>
            </a:endParaRPr>
          </a:p>
        </p:txBody>
      </p:sp>
      <p:cxnSp>
        <p:nvCxnSpPr>
          <p:cNvPr id="25" name="Google Shape;25;p1"/>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pic>
        <p:nvPicPr>
          <p:cNvPr descr="A blue logo with black background&#10;&#10;AI-generated content may be incorrect." id="26" name="Google Shape;26;p1"/>
          <p:cNvPicPr preferRelativeResize="0"/>
          <p:nvPr/>
        </p:nvPicPr>
        <p:blipFill rotWithShape="1">
          <a:blip r:embed="rId3">
            <a:alphaModFix/>
          </a:blip>
          <a:srcRect b="0" l="0" r="0" t="0"/>
          <a:stretch/>
        </p:blipFill>
        <p:spPr>
          <a:xfrm>
            <a:off x="5406940" y="391570"/>
            <a:ext cx="1768651" cy="10346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31" name="Shape 31"/>
        <p:cNvGrpSpPr/>
        <p:nvPr/>
      </p:nvGrpSpPr>
      <p:grpSpPr>
        <a:xfrm>
          <a:off x="0" y="0"/>
          <a:ext cx="0" cy="0"/>
          <a:chOff x="0" y="0"/>
          <a:chExt cx="0" cy="0"/>
        </a:xfrm>
      </p:grpSpPr>
      <p:sp>
        <p:nvSpPr>
          <p:cNvPr id="32" name="Google Shape;32;p2"/>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01 / DIE PROBLEEM</a:t>
            </a:r>
            <a:endParaRPr sz="1100">
              <a:solidFill>
                <a:srgbClr val="0070C0"/>
              </a:solidFill>
              <a:latin typeface="Arial"/>
              <a:ea typeface="Arial"/>
              <a:cs typeface="Arial"/>
              <a:sym typeface="Arial"/>
            </a:endParaRPr>
          </a:p>
        </p:txBody>
      </p:sp>
      <p:sp>
        <p:nvSpPr>
          <p:cNvPr id="35" name="Google Shape;35;p2"/>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Akademia se funksiebeplanning is tans gefragmenteerd</a:t>
            </a:r>
            <a:endParaRPr sz="1900">
              <a:solidFill>
                <a:schemeClr val="dk1"/>
              </a:solidFill>
              <a:latin typeface="Arial"/>
              <a:ea typeface="Arial"/>
              <a:cs typeface="Arial"/>
              <a:sym typeface="Arial"/>
            </a:endParaRPr>
          </a:p>
        </p:txBody>
      </p:sp>
      <p:sp>
        <p:nvSpPr>
          <p:cNvPr id="36" name="Google Shape;36;p2"/>
          <p:cNvSpPr/>
          <p:nvPr/>
        </p:nvSpPr>
        <p:spPr>
          <a:xfrm>
            <a:off x="685800" y="1389888"/>
            <a:ext cx="5806440" cy="2057400"/>
          </a:xfrm>
          <a:prstGeom prst="rect">
            <a:avLst/>
          </a:prstGeom>
          <a:noFill/>
          <a:ln>
            <a:noFill/>
          </a:ln>
        </p:spPr>
        <p:txBody>
          <a:bodyPr anchorCtr="0" anchor="ctr" bIns="0" lIns="0" spcFirstLastPara="1" rIns="0" wrap="square" tIns="0">
            <a:normAutofit/>
          </a:bodyPr>
          <a:lstStyle/>
          <a:p>
            <a:pPr indent="-285750" lvl="0" marL="285750" marR="0" rtl="0" algn="l">
              <a:spcBef>
                <a:spcPts val="0"/>
              </a:spcBef>
              <a:spcAft>
                <a:spcPts val="0"/>
              </a:spcAft>
              <a:buClr>
                <a:srgbClr val="C8D1DE"/>
              </a:buClr>
              <a:buSzPts val="1300"/>
              <a:buFont typeface="Courier New"/>
              <a:buChar char="o"/>
            </a:pPr>
            <a:r>
              <a:rPr lang="en-US" sz="1300">
                <a:solidFill>
                  <a:srgbClr val="C8D1DE"/>
                </a:solidFill>
                <a:latin typeface="Arial"/>
                <a:ea typeface="Arial"/>
                <a:cs typeface="Arial"/>
                <a:sym typeface="Arial"/>
              </a:rPr>
              <a:t>Funksies word grootliks handmatig beplan en bestuur.</a:t>
            </a:r>
            <a:endParaRPr sz="130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300"/>
              <a:buFont typeface="Courier New"/>
              <a:buChar char="o"/>
            </a:pPr>
            <a:r>
              <a:rPr lang="en-US" sz="1300">
                <a:solidFill>
                  <a:srgbClr val="C8D1DE"/>
                </a:solidFill>
                <a:latin typeface="Arial"/>
                <a:ea typeface="Arial"/>
                <a:cs typeface="Arial"/>
                <a:sym typeface="Arial"/>
              </a:rPr>
              <a:t>Data soos gaste, RSVP’s, begroting, toerusting en toegang is nie in een vloei geïntegreer nie.</a:t>
            </a:r>
            <a:endParaRPr sz="130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300"/>
              <a:buFont typeface="Courier New"/>
              <a:buChar char="o"/>
            </a:pPr>
            <a:r>
              <a:rPr lang="en-US" sz="1300">
                <a:solidFill>
                  <a:srgbClr val="C8D1DE"/>
                </a:solidFill>
                <a:latin typeface="Arial"/>
                <a:ea typeface="Arial"/>
                <a:cs typeface="Arial"/>
                <a:sym typeface="Arial"/>
              </a:rPr>
              <a:t>Handmatige prosesse verhoog die kans op foute en duplisering.</a:t>
            </a:r>
            <a:endParaRPr sz="130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300"/>
              <a:buFont typeface="Courier New"/>
              <a:buChar char="o"/>
            </a:pPr>
            <a:r>
              <a:rPr lang="en-US" sz="1300">
                <a:solidFill>
                  <a:srgbClr val="C8D1DE"/>
                </a:solidFill>
                <a:latin typeface="Arial"/>
                <a:ea typeface="Arial"/>
                <a:cs typeface="Arial"/>
                <a:sym typeface="Arial"/>
              </a:rPr>
              <a:t>Daar is beperkte sentrale sigbaarheid oor funksie-status, bywoning en toegangbeheer.</a:t>
            </a:r>
            <a:endParaRPr sz="1300">
              <a:solidFill>
                <a:schemeClr val="dk1"/>
              </a:solidFill>
              <a:latin typeface="Arial"/>
              <a:ea typeface="Arial"/>
              <a:cs typeface="Arial"/>
              <a:sym typeface="Arial"/>
            </a:endParaRPr>
          </a:p>
        </p:txBody>
      </p:sp>
      <p:sp>
        <p:nvSpPr>
          <p:cNvPr id="37" name="Google Shape;37;p2"/>
          <p:cNvSpPr/>
          <p:nvPr/>
        </p:nvSpPr>
        <p:spPr>
          <a:xfrm>
            <a:off x="6903720" y="1234440"/>
            <a:ext cx="4480560" cy="1097280"/>
          </a:xfrm>
          <a:prstGeom prst="roundRect">
            <a:avLst>
              <a:gd fmla="val 6667"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068312" y="1353312"/>
            <a:ext cx="41513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IMPAK</a:t>
            </a:r>
            <a:endParaRPr sz="1400">
              <a:solidFill>
                <a:srgbClr val="0070C0"/>
              </a:solidFill>
              <a:latin typeface="Arial"/>
              <a:ea typeface="Arial"/>
              <a:cs typeface="Arial"/>
              <a:sym typeface="Arial"/>
            </a:endParaRPr>
          </a:p>
        </p:txBody>
      </p:sp>
      <p:sp>
        <p:nvSpPr>
          <p:cNvPr id="39" name="Google Shape;39;p2"/>
          <p:cNvSpPr/>
          <p:nvPr/>
        </p:nvSpPr>
        <p:spPr>
          <a:xfrm>
            <a:off x="7068312" y="1709928"/>
            <a:ext cx="4151376"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00"/>
              <a:buFont typeface="Arial"/>
              <a:buNone/>
            </a:pPr>
            <a:r>
              <a:rPr lang="en-US" sz="1200">
                <a:solidFill>
                  <a:srgbClr val="C8D1DE"/>
                </a:solidFill>
                <a:latin typeface="Arial"/>
                <a:ea typeface="Arial"/>
                <a:cs typeface="Arial"/>
                <a:sym typeface="Arial"/>
              </a:rPr>
              <a:t>Tydverlies, minder beheer en data wat moeilik hergebruik kan word.</a:t>
            </a:r>
            <a:endParaRPr sz="1200">
              <a:solidFill>
                <a:schemeClr val="dk1"/>
              </a:solidFill>
              <a:latin typeface="Arial"/>
              <a:ea typeface="Arial"/>
              <a:cs typeface="Arial"/>
              <a:sym typeface="Arial"/>
            </a:endParaRPr>
          </a:p>
        </p:txBody>
      </p:sp>
      <p:sp>
        <p:nvSpPr>
          <p:cNvPr id="40" name="Google Shape;40;p2"/>
          <p:cNvSpPr/>
          <p:nvPr/>
        </p:nvSpPr>
        <p:spPr>
          <a:xfrm>
            <a:off x="6903720" y="2606040"/>
            <a:ext cx="4480560" cy="1097280"/>
          </a:xfrm>
          <a:prstGeom prst="roundRect">
            <a:avLst>
              <a:gd fmla="val 6667"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068312" y="2724912"/>
            <a:ext cx="41513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PRE-ALFA REAKSIE</a:t>
            </a:r>
            <a:endParaRPr sz="1400">
              <a:solidFill>
                <a:srgbClr val="0070C0"/>
              </a:solidFill>
              <a:latin typeface="Arial"/>
              <a:ea typeface="Arial"/>
              <a:cs typeface="Arial"/>
              <a:sym typeface="Arial"/>
            </a:endParaRPr>
          </a:p>
        </p:txBody>
      </p:sp>
      <p:sp>
        <p:nvSpPr>
          <p:cNvPr id="42" name="Google Shape;42;p2"/>
          <p:cNvSpPr/>
          <p:nvPr/>
        </p:nvSpPr>
        <p:spPr>
          <a:xfrm>
            <a:off x="7068312" y="3081528"/>
            <a:ext cx="4151376"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00"/>
              <a:buFont typeface="Arial"/>
              <a:buNone/>
            </a:pPr>
            <a:r>
              <a:rPr lang="en-US" sz="1200">
                <a:solidFill>
                  <a:srgbClr val="C8D1DE"/>
                </a:solidFill>
                <a:latin typeface="Arial"/>
                <a:ea typeface="Arial"/>
                <a:cs typeface="Arial"/>
                <a:sym typeface="Arial"/>
              </a:rPr>
              <a:t>Bewys dat kern data deur Web, Mobile, API en databasis kan beweeg.</a:t>
            </a:r>
            <a:endParaRPr sz="1200">
              <a:solidFill>
                <a:schemeClr val="dk1"/>
              </a:solidFill>
              <a:latin typeface="Arial"/>
              <a:ea typeface="Arial"/>
              <a:cs typeface="Arial"/>
              <a:sym typeface="Arial"/>
            </a:endParaRPr>
          </a:p>
        </p:txBody>
      </p:sp>
      <p:sp>
        <p:nvSpPr>
          <p:cNvPr id="43" name="Google Shape;43;p2"/>
          <p:cNvSpPr/>
          <p:nvPr/>
        </p:nvSpPr>
        <p:spPr>
          <a:xfrm>
            <a:off x="6903720" y="3977640"/>
            <a:ext cx="4480560" cy="1097280"/>
          </a:xfrm>
          <a:prstGeom prst="roundRect">
            <a:avLst>
              <a:gd fmla="val 6667"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7068312" y="4096512"/>
            <a:ext cx="41513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KERNVRAAG</a:t>
            </a:r>
            <a:endParaRPr sz="1400">
              <a:solidFill>
                <a:srgbClr val="0070C0"/>
              </a:solidFill>
              <a:latin typeface="Arial"/>
              <a:ea typeface="Arial"/>
              <a:cs typeface="Arial"/>
              <a:sym typeface="Arial"/>
            </a:endParaRPr>
          </a:p>
        </p:txBody>
      </p:sp>
      <p:sp>
        <p:nvSpPr>
          <p:cNvPr id="45" name="Google Shape;45;p2"/>
          <p:cNvSpPr/>
          <p:nvPr/>
        </p:nvSpPr>
        <p:spPr>
          <a:xfrm>
            <a:off x="7068312" y="4453128"/>
            <a:ext cx="4151376"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00"/>
              <a:buFont typeface="Arial"/>
              <a:buNone/>
            </a:pPr>
            <a:r>
              <a:rPr lang="en-US" sz="1200">
                <a:solidFill>
                  <a:srgbClr val="C8D1DE"/>
                </a:solidFill>
                <a:latin typeface="Arial"/>
                <a:ea typeface="Arial"/>
                <a:cs typeface="Arial"/>
                <a:sym typeface="Arial"/>
              </a:rPr>
              <a:t>Kan die stelsel reeds ’n funksie-/toegangsproses digitaal hanteer?</a:t>
            </a:r>
            <a:endParaRPr sz="1200">
              <a:solidFill>
                <a:schemeClr val="dk1"/>
              </a:solidFill>
              <a:latin typeface="Arial"/>
              <a:ea typeface="Arial"/>
              <a:cs typeface="Arial"/>
              <a:sym typeface="Arial"/>
            </a:endParaRPr>
          </a:p>
        </p:txBody>
      </p:sp>
      <p:sp>
        <p:nvSpPr>
          <p:cNvPr id="46" name="Google Shape;46;p2"/>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47" name="Google Shape;47;p2"/>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52" name="Shape 52"/>
        <p:cNvGrpSpPr/>
        <p:nvPr/>
      </p:nvGrpSpPr>
      <p:grpSpPr>
        <a:xfrm>
          <a:off x="0" y="0"/>
          <a:ext cx="0" cy="0"/>
          <a:chOff x="0" y="0"/>
          <a:chExt cx="0" cy="0"/>
        </a:xfrm>
      </p:grpSpPr>
      <p:sp>
        <p:nvSpPr>
          <p:cNvPr id="53" name="Google Shape;53;p3"/>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02 / PRE-ALFA OPLOSSING</a:t>
            </a:r>
            <a:endParaRPr sz="1100">
              <a:solidFill>
                <a:srgbClr val="0070C0"/>
              </a:solidFill>
              <a:latin typeface="Arial"/>
              <a:ea typeface="Arial"/>
              <a:cs typeface="Arial"/>
              <a:sym typeface="Arial"/>
            </a:endParaRPr>
          </a:p>
        </p:txBody>
      </p:sp>
      <p:sp>
        <p:nvSpPr>
          <p:cNvPr id="56" name="Google Shape;56;p3"/>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Een geïntegreerde vloei tussen Web, Mobile, API en databasis</a:t>
            </a:r>
            <a:endParaRPr sz="1900">
              <a:solidFill>
                <a:schemeClr val="dk1"/>
              </a:solidFill>
              <a:latin typeface="Arial"/>
              <a:ea typeface="Arial"/>
              <a:cs typeface="Arial"/>
              <a:sym typeface="Arial"/>
            </a:endParaRPr>
          </a:p>
        </p:txBody>
      </p:sp>
      <p:sp>
        <p:nvSpPr>
          <p:cNvPr id="57" name="Google Shape;57;p3"/>
          <p:cNvSpPr/>
          <p:nvPr/>
        </p:nvSpPr>
        <p:spPr>
          <a:xfrm>
            <a:off x="868680" y="1417320"/>
            <a:ext cx="411480" cy="411480"/>
          </a:xfrm>
          <a:prstGeom prst="ellipse">
            <a:avLst/>
          </a:prstGeom>
          <a:solidFill>
            <a:srgbClr val="D9A441"/>
          </a:solidFill>
          <a:ln cap="flat" cmpd="sng" w="12700">
            <a:solidFill>
              <a:srgbClr val="D9A4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868680"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WEB</a:t>
            </a:r>
            <a:endParaRPr sz="1000">
              <a:solidFill>
                <a:schemeClr val="dk1"/>
              </a:solidFill>
              <a:latin typeface="Arial"/>
              <a:ea typeface="Arial"/>
              <a:cs typeface="Arial"/>
              <a:sym typeface="Arial"/>
            </a:endParaRPr>
          </a:p>
        </p:txBody>
      </p:sp>
      <p:sp>
        <p:nvSpPr>
          <p:cNvPr id="59" name="Google Shape;59;p3"/>
          <p:cNvSpPr/>
          <p:nvPr/>
        </p:nvSpPr>
        <p:spPr>
          <a:xfrm>
            <a:off x="685800" y="1965960"/>
            <a:ext cx="3246120" cy="2971800"/>
          </a:xfrm>
          <a:prstGeom prst="roundRect">
            <a:avLst>
              <a:gd fmla="val 246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850392" y="208483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WEBTOEPASSING</a:t>
            </a:r>
            <a:endParaRPr sz="1400">
              <a:solidFill>
                <a:srgbClr val="0070C0"/>
              </a:solidFill>
              <a:latin typeface="Arial"/>
              <a:ea typeface="Arial"/>
              <a:cs typeface="Arial"/>
              <a:sym typeface="Arial"/>
            </a:endParaRPr>
          </a:p>
        </p:txBody>
      </p:sp>
      <p:sp>
        <p:nvSpPr>
          <p:cNvPr id="61" name="Google Shape;61;p3"/>
          <p:cNvSpPr/>
          <p:nvPr/>
        </p:nvSpPr>
        <p:spPr>
          <a:xfrm>
            <a:off x="850392" y="2441448"/>
            <a:ext cx="2916936" cy="2404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Admin/dosent bestuur basiese funksie-data en sien die kernskerm.</a:t>
            </a:r>
            <a:endParaRPr sz="1300">
              <a:solidFill>
                <a:schemeClr val="dk1"/>
              </a:solidFill>
              <a:latin typeface="Arial"/>
              <a:ea typeface="Arial"/>
              <a:cs typeface="Arial"/>
              <a:sym typeface="Arial"/>
            </a:endParaRPr>
          </a:p>
        </p:txBody>
      </p:sp>
      <p:sp>
        <p:nvSpPr>
          <p:cNvPr id="62" name="Google Shape;62;p3"/>
          <p:cNvSpPr/>
          <p:nvPr/>
        </p:nvSpPr>
        <p:spPr>
          <a:xfrm>
            <a:off x="4572000" y="1417320"/>
            <a:ext cx="411480" cy="411480"/>
          </a:xfrm>
          <a:prstGeom prst="ellipse">
            <a:avLst/>
          </a:prstGeom>
          <a:solidFill>
            <a:srgbClr val="61C4D8"/>
          </a:solidFill>
          <a:ln cap="flat" cmpd="sng" w="12700">
            <a:solidFill>
              <a:srgbClr val="61C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572000"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APP</a:t>
            </a:r>
            <a:endParaRPr sz="1000">
              <a:solidFill>
                <a:schemeClr val="dk1"/>
              </a:solidFill>
              <a:latin typeface="Arial"/>
              <a:ea typeface="Arial"/>
              <a:cs typeface="Arial"/>
              <a:sym typeface="Arial"/>
            </a:endParaRPr>
          </a:p>
        </p:txBody>
      </p:sp>
      <p:sp>
        <p:nvSpPr>
          <p:cNvPr id="64" name="Google Shape;64;p3"/>
          <p:cNvSpPr/>
          <p:nvPr/>
        </p:nvSpPr>
        <p:spPr>
          <a:xfrm>
            <a:off x="4389120" y="1965960"/>
            <a:ext cx="3246120" cy="2971800"/>
          </a:xfrm>
          <a:prstGeom prst="roundRect">
            <a:avLst>
              <a:gd fmla="val 246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553712" y="208483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MOBIELE TOEP</a:t>
            </a:r>
            <a:endParaRPr sz="1400">
              <a:solidFill>
                <a:srgbClr val="0070C0"/>
              </a:solidFill>
              <a:latin typeface="Arial"/>
              <a:ea typeface="Arial"/>
              <a:cs typeface="Arial"/>
              <a:sym typeface="Arial"/>
            </a:endParaRPr>
          </a:p>
        </p:txBody>
      </p:sp>
      <p:sp>
        <p:nvSpPr>
          <p:cNvPr id="66" name="Google Shape;66;p3"/>
          <p:cNvSpPr/>
          <p:nvPr/>
        </p:nvSpPr>
        <p:spPr>
          <a:xfrm>
            <a:off x="4553712" y="2441448"/>
            <a:ext cx="2916936" cy="2404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Gebruiker/operateur gebruik die mobiele skerm vir QR/toegang of funksie-interaksie.</a:t>
            </a:r>
            <a:endParaRPr sz="1300">
              <a:solidFill>
                <a:schemeClr val="dk1"/>
              </a:solidFill>
              <a:latin typeface="Arial"/>
              <a:ea typeface="Arial"/>
              <a:cs typeface="Arial"/>
              <a:sym typeface="Arial"/>
            </a:endParaRPr>
          </a:p>
        </p:txBody>
      </p:sp>
      <p:sp>
        <p:nvSpPr>
          <p:cNvPr id="67" name="Google Shape;67;p3"/>
          <p:cNvSpPr/>
          <p:nvPr/>
        </p:nvSpPr>
        <p:spPr>
          <a:xfrm>
            <a:off x="8275320" y="1417320"/>
            <a:ext cx="411480" cy="411480"/>
          </a:xfrm>
          <a:prstGeom prst="ellipse">
            <a:avLst/>
          </a:prstGeom>
          <a:solidFill>
            <a:srgbClr val="5FB47B"/>
          </a:solidFill>
          <a:ln cap="flat" cmpd="sng" w="12700">
            <a:solidFill>
              <a:srgbClr val="5FB4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8275320"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API</a:t>
            </a:r>
            <a:endParaRPr sz="1000">
              <a:solidFill>
                <a:schemeClr val="dk1"/>
              </a:solidFill>
              <a:latin typeface="Arial"/>
              <a:ea typeface="Arial"/>
              <a:cs typeface="Arial"/>
              <a:sym typeface="Arial"/>
            </a:endParaRPr>
          </a:p>
        </p:txBody>
      </p:sp>
      <p:sp>
        <p:nvSpPr>
          <p:cNvPr id="69" name="Google Shape;69;p3"/>
          <p:cNvSpPr/>
          <p:nvPr/>
        </p:nvSpPr>
        <p:spPr>
          <a:xfrm>
            <a:off x="8092440" y="1965960"/>
            <a:ext cx="3246120" cy="2971800"/>
          </a:xfrm>
          <a:prstGeom prst="roundRect">
            <a:avLst>
              <a:gd fmla="val 246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8257032" y="208483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WEBAPI + DB</a:t>
            </a:r>
            <a:endParaRPr sz="1400">
              <a:solidFill>
                <a:srgbClr val="0070C0"/>
              </a:solidFill>
              <a:latin typeface="Arial"/>
              <a:ea typeface="Arial"/>
              <a:cs typeface="Arial"/>
              <a:sym typeface="Arial"/>
            </a:endParaRPr>
          </a:p>
        </p:txBody>
      </p:sp>
      <p:sp>
        <p:nvSpPr>
          <p:cNvPr id="71" name="Google Shape;71;p3"/>
          <p:cNvSpPr/>
          <p:nvPr/>
        </p:nvSpPr>
        <p:spPr>
          <a:xfrm>
            <a:off x="8257032" y="2441448"/>
            <a:ext cx="2916936" cy="2404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NestJS API hanteer validasie, skryf/lees data en koppel aan MongoDB.</a:t>
            </a:r>
            <a:endParaRPr sz="1300">
              <a:solidFill>
                <a:schemeClr val="dk1"/>
              </a:solidFill>
              <a:latin typeface="Arial"/>
              <a:ea typeface="Arial"/>
              <a:cs typeface="Arial"/>
              <a:sym typeface="Arial"/>
            </a:endParaRPr>
          </a:p>
        </p:txBody>
      </p:sp>
      <p:cxnSp>
        <p:nvCxnSpPr>
          <p:cNvPr id="72" name="Google Shape;72;p3"/>
          <p:cNvCxnSpPr/>
          <p:nvPr/>
        </p:nvCxnSpPr>
        <p:spPr>
          <a:xfrm>
            <a:off x="3992880" y="3429000"/>
            <a:ext cx="367665" cy="0"/>
          </a:xfrm>
          <a:prstGeom prst="straightConnector1">
            <a:avLst/>
          </a:prstGeom>
          <a:noFill/>
          <a:ln cap="flat" cmpd="sng" w="12700">
            <a:solidFill>
              <a:schemeClr val="accent1"/>
            </a:solidFill>
            <a:prstDash val="solid"/>
            <a:round/>
            <a:headEnd len="sm" w="sm" type="none"/>
            <a:tailEnd len="med" w="med" type="triangle"/>
          </a:ln>
        </p:spPr>
      </p:cxnSp>
      <p:sp>
        <p:nvSpPr>
          <p:cNvPr id="73" name="Google Shape;73;p3"/>
          <p:cNvSpPr/>
          <p:nvPr/>
        </p:nvSpPr>
        <p:spPr>
          <a:xfrm>
            <a:off x="1005840" y="5349240"/>
            <a:ext cx="9966960" cy="576072"/>
          </a:xfrm>
          <a:prstGeom prst="roundRect">
            <a:avLst>
              <a:gd fmla="val 12698"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170432" y="5468112"/>
            <a:ext cx="96377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PRE-ALFA DOEL</a:t>
            </a:r>
            <a:endParaRPr sz="1100">
              <a:solidFill>
                <a:srgbClr val="0070C0"/>
              </a:solidFill>
              <a:latin typeface="Arial"/>
              <a:ea typeface="Arial"/>
              <a:cs typeface="Arial"/>
              <a:sym typeface="Arial"/>
            </a:endParaRPr>
          </a:p>
        </p:txBody>
      </p:sp>
      <p:sp>
        <p:nvSpPr>
          <p:cNvPr id="75" name="Google Shape;75;p3"/>
          <p:cNvSpPr/>
          <p:nvPr/>
        </p:nvSpPr>
        <p:spPr>
          <a:xfrm>
            <a:off x="1170432" y="5676900"/>
            <a:ext cx="9637776" cy="1569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900"/>
              <a:buFont typeface="Arial"/>
              <a:buNone/>
            </a:pPr>
            <a:r>
              <a:rPr lang="en-US" sz="900">
                <a:solidFill>
                  <a:srgbClr val="C8D1DE"/>
                </a:solidFill>
                <a:latin typeface="Arial"/>
                <a:ea typeface="Arial"/>
                <a:cs typeface="Arial"/>
                <a:sym typeface="Arial"/>
              </a:rPr>
              <a:t>Nie die volledige finale stelsel nie — slegs die eerste werkende kernfunksie wat die argitektuur bewys.</a:t>
            </a:r>
            <a:endParaRPr sz="900">
              <a:solidFill>
                <a:schemeClr val="dk1"/>
              </a:solidFill>
              <a:latin typeface="Arial"/>
              <a:ea typeface="Arial"/>
              <a:cs typeface="Arial"/>
              <a:sym typeface="Arial"/>
            </a:endParaRPr>
          </a:p>
        </p:txBody>
      </p:sp>
      <p:sp>
        <p:nvSpPr>
          <p:cNvPr id="76" name="Google Shape;76;p3"/>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77" name="Google Shape;77;p3"/>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cxnSp>
        <p:nvCxnSpPr>
          <p:cNvPr id="78" name="Google Shape;78;p3"/>
          <p:cNvCxnSpPr/>
          <p:nvPr/>
        </p:nvCxnSpPr>
        <p:spPr>
          <a:xfrm>
            <a:off x="7688580" y="3429000"/>
            <a:ext cx="367665" cy="0"/>
          </a:xfrm>
          <a:prstGeom prst="straightConnector1">
            <a:avLst/>
          </a:prstGeom>
          <a:noFill/>
          <a:ln cap="flat" cmpd="sng" w="12700">
            <a:solidFill>
              <a:schemeClr val="accent1"/>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83" name="Shape 83"/>
        <p:cNvGrpSpPr/>
        <p:nvPr/>
      </p:nvGrpSpPr>
      <p:grpSpPr>
        <a:xfrm>
          <a:off x="0" y="0"/>
          <a:ext cx="0" cy="0"/>
          <a:chOff x="0" y="0"/>
          <a:chExt cx="0" cy="0"/>
        </a:xfrm>
      </p:grpSpPr>
      <p:sp>
        <p:nvSpPr>
          <p:cNvPr id="84" name="Google Shape;84;p4"/>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03 / KERNFUNKSIE</a:t>
            </a:r>
            <a:endParaRPr sz="1100">
              <a:solidFill>
                <a:srgbClr val="0070C0"/>
              </a:solidFill>
              <a:latin typeface="Arial"/>
              <a:ea typeface="Arial"/>
              <a:cs typeface="Arial"/>
              <a:sym typeface="Arial"/>
            </a:endParaRPr>
          </a:p>
        </p:txBody>
      </p:sp>
      <p:sp>
        <p:nvSpPr>
          <p:cNvPr id="87" name="Google Shape;87;p4"/>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Basiese funksie-/toegangsvloei met QR en databasis-koppeling</a:t>
            </a:r>
            <a:endParaRPr sz="1900">
              <a:solidFill>
                <a:schemeClr val="dk1"/>
              </a:solidFill>
              <a:latin typeface="Arial"/>
              <a:ea typeface="Arial"/>
              <a:cs typeface="Arial"/>
              <a:sym typeface="Arial"/>
            </a:endParaRPr>
          </a:p>
        </p:txBody>
      </p:sp>
      <p:sp>
        <p:nvSpPr>
          <p:cNvPr id="88" name="Google Shape;88;p4"/>
          <p:cNvSpPr/>
          <p:nvPr/>
        </p:nvSpPr>
        <p:spPr>
          <a:xfrm>
            <a:off x="685800" y="1234440"/>
            <a:ext cx="3657600" cy="3977640"/>
          </a:xfrm>
          <a:prstGeom prst="roundRect">
            <a:avLst>
              <a:gd fmla="val 20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850392" y="1353312"/>
            <a:ext cx="33284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WAT WORD GEDEMONSTREER?</a:t>
            </a:r>
            <a:endParaRPr sz="1400">
              <a:solidFill>
                <a:srgbClr val="0070C0"/>
              </a:solidFill>
              <a:latin typeface="Arial"/>
              <a:ea typeface="Arial"/>
              <a:cs typeface="Arial"/>
              <a:sym typeface="Arial"/>
            </a:endParaRPr>
          </a:p>
        </p:txBody>
      </p:sp>
      <p:sp>
        <p:nvSpPr>
          <p:cNvPr id="90" name="Google Shape;90;p4"/>
          <p:cNvSpPr/>
          <p:nvPr/>
        </p:nvSpPr>
        <p:spPr>
          <a:xfrm>
            <a:off x="850392" y="1709928"/>
            <a:ext cx="3328416" cy="34107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1. Gebruiker registreer of teken in</a:t>
            </a:r>
            <a:endParaRPr sz="13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2. Basiese funksie-data word geskep of gelees</a:t>
            </a:r>
            <a:endParaRPr sz="13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3. QR-kode word gegenereer of gevalideer</a:t>
            </a:r>
            <a:endParaRPr sz="13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4. Web/Mobile roep dieselfde API aan</a:t>
            </a:r>
            <a:endParaRPr sz="13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5. MongoDB word gebruik vir stoor en teruglees</a:t>
            </a:r>
            <a:endParaRPr sz="1300">
              <a:solidFill>
                <a:schemeClr val="dk1"/>
              </a:solidFill>
              <a:latin typeface="Arial"/>
              <a:ea typeface="Arial"/>
              <a:cs typeface="Arial"/>
              <a:sym typeface="Arial"/>
            </a:endParaRPr>
          </a:p>
        </p:txBody>
      </p:sp>
      <p:sp>
        <p:nvSpPr>
          <p:cNvPr id="91" name="Google Shape;91;p4"/>
          <p:cNvSpPr/>
          <p:nvPr/>
        </p:nvSpPr>
        <p:spPr>
          <a:xfrm>
            <a:off x="4663440" y="1234440"/>
            <a:ext cx="3063240" cy="3977640"/>
          </a:xfrm>
          <a:prstGeom prst="roundRect">
            <a:avLst>
              <a:gd fmla="val 2388"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4828032" y="1353312"/>
            <a:ext cx="27340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WAAROM HIERDIE FUNKSIE?</a:t>
            </a:r>
            <a:endParaRPr sz="1400">
              <a:solidFill>
                <a:srgbClr val="0070C0"/>
              </a:solidFill>
              <a:latin typeface="Arial"/>
              <a:ea typeface="Arial"/>
              <a:cs typeface="Arial"/>
              <a:sym typeface="Arial"/>
            </a:endParaRPr>
          </a:p>
        </p:txBody>
      </p:sp>
      <p:sp>
        <p:nvSpPr>
          <p:cNvPr id="93" name="Google Shape;93;p4"/>
          <p:cNvSpPr/>
          <p:nvPr/>
        </p:nvSpPr>
        <p:spPr>
          <a:xfrm>
            <a:off x="4828032" y="1709928"/>
            <a:ext cx="2734056" cy="34107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Dit raak die kern van die stelsel: gebruikers, funksies, toegang, data en integrasie. As hierdie vloei werk, kan die res van die modules daarop voortbou.</a:t>
            </a:r>
            <a:endParaRPr sz="1300">
              <a:solidFill>
                <a:schemeClr val="dk1"/>
              </a:solidFill>
              <a:latin typeface="Arial"/>
              <a:ea typeface="Arial"/>
              <a:cs typeface="Arial"/>
              <a:sym typeface="Arial"/>
            </a:endParaRPr>
          </a:p>
        </p:txBody>
      </p:sp>
      <p:sp>
        <p:nvSpPr>
          <p:cNvPr id="94" name="Google Shape;94;p4"/>
          <p:cNvSpPr/>
          <p:nvPr/>
        </p:nvSpPr>
        <p:spPr>
          <a:xfrm>
            <a:off x="8046720" y="1234440"/>
            <a:ext cx="3429000" cy="3977640"/>
          </a:xfrm>
          <a:prstGeom prst="roundRect">
            <a:avLst>
              <a:gd fmla="val 213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8211312" y="1353312"/>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SUKSES-KRITERIA</a:t>
            </a:r>
            <a:endParaRPr sz="1400">
              <a:solidFill>
                <a:srgbClr val="0070C0"/>
              </a:solidFill>
              <a:latin typeface="Arial"/>
              <a:ea typeface="Arial"/>
              <a:cs typeface="Arial"/>
              <a:sym typeface="Arial"/>
            </a:endParaRPr>
          </a:p>
        </p:txBody>
      </p:sp>
      <p:sp>
        <p:nvSpPr>
          <p:cNvPr id="96" name="Google Shape;96;p4"/>
          <p:cNvSpPr/>
          <p:nvPr/>
        </p:nvSpPr>
        <p:spPr>
          <a:xfrm>
            <a:off x="8211312" y="1709928"/>
            <a:ext cx="3099816" cy="34107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400"/>
              <a:buFont typeface="Arial"/>
              <a:buNone/>
            </a:pPr>
            <a:r>
              <a:rPr lang="en-US" sz="1400">
                <a:solidFill>
                  <a:srgbClr val="C8D1DE"/>
                </a:solidFill>
                <a:latin typeface="Arial"/>
                <a:ea typeface="Arial"/>
                <a:cs typeface="Arial"/>
                <a:sym typeface="Arial"/>
              </a:rPr>
              <a:t>✓ Skerms bestaan</a:t>
            </a:r>
            <a:endParaRPr sz="14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400"/>
              <a:buFont typeface="Arial"/>
              <a:buNone/>
            </a:pPr>
            <a:r>
              <a:rPr lang="en-US" sz="1400">
                <a:solidFill>
                  <a:srgbClr val="C8D1DE"/>
                </a:solidFill>
                <a:latin typeface="Arial"/>
                <a:ea typeface="Arial"/>
                <a:cs typeface="Arial"/>
                <a:sym typeface="Arial"/>
              </a:rPr>
              <a:t>✓ API reageer korrek</a:t>
            </a:r>
            <a:endParaRPr sz="14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400"/>
              <a:buFont typeface="Arial"/>
              <a:buNone/>
            </a:pPr>
            <a:r>
              <a:rPr lang="en-US" sz="1400">
                <a:solidFill>
                  <a:srgbClr val="C8D1DE"/>
                </a:solidFill>
                <a:latin typeface="Arial"/>
                <a:ea typeface="Arial"/>
                <a:cs typeface="Arial"/>
                <a:sym typeface="Arial"/>
              </a:rPr>
              <a:t>✓ Data word geskryf</a:t>
            </a:r>
            <a:endParaRPr sz="14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400"/>
              <a:buFont typeface="Arial"/>
              <a:buNone/>
            </a:pPr>
            <a:r>
              <a:rPr lang="en-US" sz="1400">
                <a:solidFill>
                  <a:srgbClr val="C8D1DE"/>
                </a:solidFill>
                <a:latin typeface="Arial"/>
                <a:ea typeface="Arial"/>
                <a:cs typeface="Arial"/>
                <a:sym typeface="Arial"/>
              </a:rPr>
              <a:t>✓ Data word teruggelees</a:t>
            </a:r>
            <a:endParaRPr sz="140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400"/>
              <a:buFont typeface="Arial"/>
              <a:buNone/>
            </a:pPr>
            <a:r>
              <a:rPr lang="en-US" sz="1400">
                <a:solidFill>
                  <a:srgbClr val="C8D1DE"/>
                </a:solidFill>
                <a:latin typeface="Arial"/>
                <a:ea typeface="Arial"/>
                <a:cs typeface="Arial"/>
                <a:sym typeface="Arial"/>
              </a:rPr>
              <a:t>✓ Foutgevalle word hanteer</a:t>
            </a:r>
            <a:endParaRPr sz="1400">
              <a:solidFill>
                <a:schemeClr val="dk1"/>
              </a:solidFill>
              <a:latin typeface="Arial"/>
              <a:ea typeface="Arial"/>
              <a:cs typeface="Arial"/>
              <a:sym typeface="Arial"/>
            </a:endParaRPr>
          </a:p>
        </p:txBody>
      </p:sp>
      <p:sp>
        <p:nvSpPr>
          <p:cNvPr id="97" name="Google Shape;97;p4"/>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98" name="Google Shape;98;p4"/>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103" name="Shape 103"/>
        <p:cNvGrpSpPr/>
        <p:nvPr/>
      </p:nvGrpSpPr>
      <p:grpSpPr>
        <a:xfrm>
          <a:off x="0" y="0"/>
          <a:ext cx="0" cy="0"/>
          <a:chOff x="0" y="0"/>
          <a:chExt cx="0" cy="0"/>
        </a:xfrm>
      </p:grpSpPr>
      <p:sp>
        <p:nvSpPr>
          <p:cNvPr id="104" name="Google Shape;104;p5"/>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04 / TEGNOLOGIE-STAPEL</a:t>
            </a:r>
            <a:endParaRPr sz="1100">
              <a:solidFill>
                <a:srgbClr val="0070C0"/>
              </a:solidFill>
              <a:latin typeface="Arial"/>
              <a:ea typeface="Arial"/>
              <a:cs typeface="Arial"/>
              <a:sym typeface="Arial"/>
            </a:endParaRPr>
          </a:p>
        </p:txBody>
      </p:sp>
      <p:sp>
        <p:nvSpPr>
          <p:cNvPr id="107" name="Google Shape;107;p5"/>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Tale en raamwerke vir elke deel van die stelsel</a:t>
            </a:r>
            <a:endParaRPr sz="1900">
              <a:solidFill>
                <a:schemeClr val="dk1"/>
              </a:solidFill>
              <a:latin typeface="Arial"/>
              <a:ea typeface="Arial"/>
              <a:cs typeface="Arial"/>
              <a:sym typeface="Arial"/>
            </a:endParaRPr>
          </a:p>
        </p:txBody>
      </p:sp>
      <p:sp>
        <p:nvSpPr>
          <p:cNvPr id="108" name="Google Shape;108;p5"/>
          <p:cNvSpPr/>
          <p:nvPr/>
        </p:nvSpPr>
        <p:spPr>
          <a:xfrm>
            <a:off x="685800" y="1234440"/>
            <a:ext cx="3246120" cy="1627632"/>
          </a:xfrm>
          <a:prstGeom prst="roundRect">
            <a:avLst>
              <a:gd fmla="val 449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850392" y="13533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FRONTEND WEB</a:t>
            </a:r>
            <a:endParaRPr sz="1300">
              <a:solidFill>
                <a:srgbClr val="0070C0"/>
              </a:solidFill>
              <a:latin typeface="Arial"/>
              <a:ea typeface="Arial"/>
              <a:cs typeface="Arial"/>
              <a:sym typeface="Arial"/>
            </a:endParaRPr>
          </a:p>
        </p:txBody>
      </p:sp>
      <p:sp>
        <p:nvSpPr>
          <p:cNvPr id="110" name="Google Shape;110;p5"/>
          <p:cNvSpPr/>
          <p:nvPr/>
        </p:nvSpPr>
        <p:spPr>
          <a:xfrm>
            <a:off x="850392" y="1709928"/>
            <a:ext cx="2916936" cy="10607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Next</a:t>
            </a:r>
            <a:r>
              <a:rPr lang="en-US" sz="1120">
                <a:solidFill>
                  <a:srgbClr val="C8D1DE"/>
                </a:solidFill>
              </a:rPr>
              <a:t>JS</a:t>
            </a:r>
            <a:r>
              <a:rPr lang="en-US" sz="1120">
                <a:solidFill>
                  <a:srgbClr val="C8D1DE"/>
                </a:solidFill>
                <a:latin typeface="Arial"/>
                <a:ea typeface="Arial"/>
                <a:cs typeface="Arial"/>
                <a:sym typeface="Arial"/>
              </a:rPr>
              <a:t> / React</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TypeScript</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Tailwind CSS</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rPr>
              <a:t>Paneelbord</a:t>
            </a:r>
            <a:r>
              <a:rPr lang="en-US" sz="1120">
                <a:solidFill>
                  <a:srgbClr val="C8D1DE"/>
                </a:solidFill>
                <a:latin typeface="Arial"/>
                <a:ea typeface="Arial"/>
                <a:cs typeface="Arial"/>
                <a:sym typeface="Arial"/>
              </a:rPr>
              <a:t>-skerms</a:t>
            </a:r>
            <a:endParaRPr sz="1120">
              <a:solidFill>
                <a:schemeClr val="dk1"/>
              </a:solidFill>
              <a:latin typeface="Arial"/>
              <a:ea typeface="Arial"/>
              <a:cs typeface="Arial"/>
              <a:sym typeface="Arial"/>
            </a:endParaRPr>
          </a:p>
        </p:txBody>
      </p:sp>
      <p:sp>
        <p:nvSpPr>
          <p:cNvPr id="111" name="Google Shape;111;p5"/>
          <p:cNvSpPr/>
          <p:nvPr/>
        </p:nvSpPr>
        <p:spPr>
          <a:xfrm>
            <a:off x="4389120" y="1234440"/>
            <a:ext cx="3246120" cy="1627632"/>
          </a:xfrm>
          <a:prstGeom prst="roundRect">
            <a:avLst>
              <a:gd fmla="val 449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4553712" y="13533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MOBIELE APP</a:t>
            </a:r>
            <a:endParaRPr sz="1300">
              <a:solidFill>
                <a:srgbClr val="0070C0"/>
              </a:solidFill>
              <a:latin typeface="Arial"/>
              <a:ea typeface="Arial"/>
              <a:cs typeface="Arial"/>
              <a:sym typeface="Arial"/>
            </a:endParaRPr>
          </a:p>
        </p:txBody>
      </p:sp>
      <p:sp>
        <p:nvSpPr>
          <p:cNvPr id="113" name="Google Shape;113;p5"/>
          <p:cNvSpPr/>
          <p:nvPr/>
        </p:nvSpPr>
        <p:spPr>
          <a:xfrm>
            <a:off x="4553712" y="1709928"/>
            <a:ext cx="2916936" cy="10607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React Native Expo</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TypeScript</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QR Scanner</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Mobiele UI</a:t>
            </a:r>
            <a:endParaRPr sz="1120">
              <a:solidFill>
                <a:schemeClr val="dk1"/>
              </a:solidFill>
              <a:latin typeface="Arial"/>
              <a:ea typeface="Arial"/>
              <a:cs typeface="Arial"/>
              <a:sym typeface="Arial"/>
            </a:endParaRPr>
          </a:p>
        </p:txBody>
      </p:sp>
      <p:sp>
        <p:nvSpPr>
          <p:cNvPr id="114" name="Google Shape;114;p5"/>
          <p:cNvSpPr/>
          <p:nvPr/>
        </p:nvSpPr>
        <p:spPr>
          <a:xfrm>
            <a:off x="8092440" y="1234440"/>
            <a:ext cx="3246120" cy="1627632"/>
          </a:xfrm>
          <a:prstGeom prst="roundRect">
            <a:avLst>
              <a:gd fmla="val 449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257032" y="13533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BACKEND API</a:t>
            </a:r>
            <a:endParaRPr sz="1300">
              <a:solidFill>
                <a:srgbClr val="0070C0"/>
              </a:solidFill>
              <a:latin typeface="Arial"/>
              <a:ea typeface="Arial"/>
              <a:cs typeface="Arial"/>
              <a:sym typeface="Arial"/>
            </a:endParaRPr>
          </a:p>
        </p:txBody>
      </p:sp>
      <p:sp>
        <p:nvSpPr>
          <p:cNvPr id="116" name="Google Shape;116;p5"/>
          <p:cNvSpPr/>
          <p:nvPr/>
        </p:nvSpPr>
        <p:spPr>
          <a:xfrm>
            <a:off x="8257032" y="1709928"/>
            <a:ext cx="2916936" cy="10607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NestJS</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TypeScript</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REST endpoints</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JWT / RBAC</a:t>
            </a:r>
            <a:endParaRPr sz="1120">
              <a:solidFill>
                <a:schemeClr val="dk1"/>
              </a:solidFill>
              <a:latin typeface="Arial"/>
              <a:ea typeface="Arial"/>
              <a:cs typeface="Arial"/>
              <a:sym typeface="Arial"/>
            </a:endParaRPr>
          </a:p>
        </p:txBody>
      </p:sp>
      <p:sp>
        <p:nvSpPr>
          <p:cNvPr id="117" name="Google Shape;117;p5"/>
          <p:cNvSpPr/>
          <p:nvPr/>
        </p:nvSpPr>
        <p:spPr>
          <a:xfrm>
            <a:off x="685800" y="3291840"/>
            <a:ext cx="3246120" cy="1627632"/>
          </a:xfrm>
          <a:prstGeom prst="roundRect">
            <a:avLst>
              <a:gd fmla="val 449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850392" y="34107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DATABASIS</a:t>
            </a:r>
            <a:endParaRPr sz="1300">
              <a:solidFill>
                <a:srgbClr val="0070C0"/>
              </a:solidFill>
              <a:latin typeface="Arial"/>
              <a:ea typeface="Arial"/>
              <a:cs typeface="Arial"/>
              <a:sym typeface="Arial"/>
            </a:endParaRPr>
          </a:p>
        </p:txBody>
      </p:sp>
      <p:sp>
        <p:nvSpPr>
          <p:cNvPr id="119" name="Google Shape;119;p5"/>
          <p:cNvSpPr/>
          <p:nvPr/>
        </p:nvSpPr>
        <p:spPr>
          <a:xfrm>
            <a:off x="850392" y="3767328"/>
            <a:ext cx="2916936" cy="10607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MongoDB Atlas</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Mongoose ODM</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Collections</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Dokument-data</a:t>
            </a:r>
            <a:endParaRPr sz="1120">
              <a:solidFill>
                <a:schemeClr val="dk1"/>
              </a:solidFill>
              <a:latin typeface="Arial"/>
              <a:ea typeface="Arial"/>
              <a:cs typeface="Arial"/>
              <a:sym typeface="Arial"/>
            </a:endParaRPr>
          </a:p>
        </p:txBody>
      </p:sp>
      <p:sp>
        <p:nvSpPr>
          <p:cNvPr id="120" name="Google Shape;120;p5"/>
          <p:cNvSpPr/>
          <p:nvPr/>
        </p:nvSpPr>
        <p:spPr>
          <a:xfrm>
            <a:off x="4389120" y="3291840"/>
            <a:ext cx="3246120" cy="1627632"/>
          </a:xfrm>
          <a:prstGeom prst="roundRect">
            <a:avLst>
              <a:gd fmla="val 449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553712" y="34107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KENNISGEWINGS</a:t>
            </a:r>
            <a:endParaRPr sz="1300">
              <a:solidFill>
                <a:srgbClr val="0070C0"/>
              </a:solidFill>
              <a:latin typeface="Arial"/>
              <a:ea typeface="Arial"/>
              <a:cs typeface="Arial"/>
              <a:sym typeface="Arial"/>
            </a:endParaRPr>
          </a:p>
        </p:txBody>
      </p:sp>
      <p:sp>
        <p:nvSpPr>
          <p:cNvPr id="122" name="Google Shape;122;p5"/>
          <p:cNvSpPr/>
          <p:nvPr/>
        </p:nvSpPr>
        <p:spPr>
          <a:xfrm>
            <a:off x="4553712" y="3767328"/>
            <a:ext cx="2916936" cy="10607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E-pos / SMS / Push</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Beplan vir later fases</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Nie kern van Pre-Alfa nie</a:t>
            </a:r>
            <a:endParaRPr sz="1120">
              <a:solidFill>
                <a:schemeClr val="dk1"/>
              </a:solidFill>
              <a:latin typeface="Arial"/>
              <a:ea typeface="Arial"/>
              <a:cs typeface="Arial"/>
              <a:sym typeface="Arial"/>
            </a:endParaRPr>
          </a:p>
        </p:txBody>
      </p:sp>
      <p:sp>
        <p:nvSpPr>
          <p:cNvPr id="123" name="Google Shape;123;p5"/>
          <p:cNvSpPr/>
          <p:nvPr/>
        </p:nvSpPr>
        <p:spPr>
          <a:xfrm>
            <a:off x="8092440" y="3291840"/>
            <a:ext cx="3246120" cy="1627632"/>
          </a:xfrm>
          <a:prstGeom prst="roundRect">
            <a:avLst>
              <a:gd fmla="val 449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8257032" y="34107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KI / ANALISE</a:t>
            </a:r>
            <a:endParaRPr sz="1300">
              <a:solidFill>
                <a:srgbClr val="0070C0"/>
              </a:solidFill>
              <a:latin typeface="Arial"/>
              <a:ea typeface="Arial"/>
              <a:cs typeface="Arial"/>
              <a:sym typeface="Arial"/>
            </a:endParaRPr>
          </a:p>
        </p:txBody>
      </p:sp>
      <p:sp>
        <p:nvSpPr>
          <p:cNvPr id="125" name="Google Shape;125;p5"/>
          <p:cNvSpPr/>
          <p:nvPr/>
        </p:nvSpPr>
        <p:spPr>
          <a:xfrm>
            <a:off x="8257032" y="3767328"/>
            <a:ext cx="2916936" cy="10607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FastAPI / Python</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TensorFlow / LSTM</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Beplan vir Beta/Finaal</a:t>
            </a:r>
            <a:endParaRPr sz="112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120"/>
              <a:buFont typeface="Arial"/>
              <a:buNone/>
            </a:pPr>
            <a:r>
              <a:rPr lang="en-US" sz="1120">
                <a:solidFill>
                  <a:srgbClr val="C8D1DE"/>
                </a:solidFill>
                <a:latin typeface="Arial"/>
                <a:ea typeface="Arial"/>
                <a:cs typeface="Arial"/>
                <a:sym typeface="Arial"/>
              </a:rPr>
              <a:t>Nie kern van Pre-Alfa nie</a:t>
            </a:r>
            <a:endParaRPr sz="1120">
              <a:solidFill>
                <a:schemeClr val="dk1"/>
              </a:solidFill>
              <a:latin typeface="Arial"/>
              <a:ea typeface="Arial"/>
              <a:cs typeface="Arial"/>
              <a:sym typeface="Arial"/>
            </a:endParaRPr>
          </a:p>
        </p:txBody>
      </p:sp>
      <p:sp>
        <p:nvSpPr>
          <p:cNvPr id="126" name="Google Shape;126;p5"/>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127" name="Google Shape;127;p5"/>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132" name="Shape 132"/>
        <p:cNvGrpSpPr/>
        <p:nvPr/>
      </p:nvGrpSpPr>
      <p:grpSpPr>
        <a:xfrm>
          <a:off x="0" y="0"/>
          <a:ext cx="0" cy="0"/>
          <a:chOff x="0" y="0"/>
          <a:chExt cx="0" cy="0"/>
        </a:xfrm>
      </p:grpSpPr>
      <p:sp>
        <p:nvSpPr>
          <p:cNvPr id="133" name="Google Shape;133;p6"/>
          <p:cNvSpPr/>
          <p:nvPr/>
        </p:nvSpPr>
        <p:spPr>
          <a:xfrm>
            <a:off x="-1905"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05 / STELSELARGITEKTUUR</a:t>
            </a:r>
            <a:endParaRPr sz="1100">
              <a:solidFill>
                <a:srgbClr val="0070C0"/>
              </a:solidFill>
              <a:latin typeface="Arial"/>
              <a:ea typeface="Arial"/>
              <a:cs typeface="Arial"/>
              <a:sym typeface="Arial"/>
            </a:endParaRPr>
          </a:p>
        </p:txBody>
      </p:sp>
      <p:sp>
        <p:nvSpPr>
          <p:cNvPr id="135" name="Google Shape;135;p6"/>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Hoëvlak-oorsig van die Pre-Alfa integrasie</a:t>
            </a:r>
            <a:endParaRPr sz="1900">
              <a:solidFill>
                <a:schemeClr val="dk1"/>
              </a:solidFill>
              <a:latin typeface="Arial"/>
              <a:ea typeface="Arial"/>
              <a:cs typeface="Arial"/>
              <a:sym typeface="Arial"/>
            </a:endParaRPr>
          </a:p>
        </p:txBody>
      </p:sp>
      <p:sp>
        <p:nvSpPr>
          <p:cNvPr id="136" name="Google Shape;136;p6"/>
          <p:cNvSpPr/>
          <p:nvPr/>
        </p:nvSpPr>
        <p:spPr>
          <a:xfrm>
            <a:off x="685800" y="1417320"/>
            <a:ext cx="1874520" cy="960120"/>
          </a:xfrm>
          <a:prstGeom prst="roundRect">
            <a:avLst>
              <a:gd fmla="val 7619" name="adj"/>
            </a:avLst>
          </a:prstGeom>
          <a:solidFill>
            <a:srgbClr val="D9A441"/>
          </a:solidFill>
          <a:ln cap="flat" cmpd="sng" w="12700">
            <a:solidFill>
              <a:srgbClr val="D9A4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850392" y="1554480"/>
            <a:ext cx="1545336" cy="7315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Admin / Dosent</a:t>
            </a:r>
            <a:endParaRPr sz="1400">
              <a:solidFill>
                <a:schemeClr val="dk1"/>
              </a:solidFill>
              <a:latin typeface="Arial"/>
              <a:ea typeface="Arial"/>
              <a:cs typeface="Arial"/>
              <a:sym typeface="Arial"/>
            </a:endParaRPr>
          </a:p>
        </p:txBody>
      </p:sp>
      <p:sp>
        <p:nvSpPr>
          <p:cNvPr id="138" name="Google Shape;138;p6"/>
          <p:cNvSpPr/>
          <p:nvPr/>
        </p:nvSpPr>
        <p:spPr>
          <a:xfrm>
            <a:off x="2880360" y="1417320"/>
            <a:ext cx="1874520" cy="960120"/>
          </a:xfrm>
          <a:prstGeom prst="roundRect">
            <a:avLst>
              <a:gd fmla="val 7619" name="adj"/>
            </a:avLst>
          </a:prstGeom>
          <a:solidFill>
            <a:srgbClr val="244A73"/>
          </a:solidFill>
          <a:ln cap="flat" cmpd="sng" w="12700">
            <a:solidFill>
              <a:srgbClr val="244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3044952" y="1554480"/>
            <a:ext cx="1545336" cy="7315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Web App</a:t>
            </a:r>
            <a:endParaRPr sz="14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Next</a:t>
            </a:r>
            <a:r>
              <a:rPr lang="en-US">
                <a:solidFill>
                  <a:srgbClr val="FFFFFF"/>
                </a:solidFill>
              </a:rPr>
              <a:t>JS</a:t>
            </a:r>
            <a:endParaRPr sz="1400">
              <a:solidFill>
                <a:schemeClr val="dk1"/>
              </a:solidFill>
              <a:latin typeface="Arial"/>
              <a:ea typeface="Arial"/>
              <a:cs typeface="Arial"/>
              <a:sym typeface="Arial"/>
            </a:endParaRPr>
          </a:p>
        </p:txBody>
      </p:sp>
      <p:sp>
        <p:nvSpPr>
          <p:cNvPr id="140" name="Google Shape;140;p6"/>
          <p:cNvSpPr/>
          <p:nvPr/>
        </p:nvSpPr>
        <p:spPr>
          <a:xfrm>
            <a:off x="5257800" y="2711908"/>
            <a:ext cx="1874520" cy="960120"/>
          </a:xfrm>
          <a:prstGeom prst="roundRect">
            <a:avLst>
              <a:gd fmla="val 7619" name="adj"/>
            </a:avLst>
          </a:prstGeom>
          <a:solidFill>
            <a:srgbClr val="5FB47B"/>
          </a:solidFill>
          <a:ln cap="flat" cmpd="sng" w="12700">
            <a:solidFill>
              <a:srgbClr val="5FB4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5422392" y="2826208"/>
            <a:ext cx="1545336" cy="7315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WebAPI</a:t>
            </a:r>
            <a:endParaRPr sz="14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NestJS</a:t>
            </a:r>
            <a:endParaRPr sz="1400">
              <a:solidFill>
                <a:schemeClr val="dk1"/>
              </a:solidFill>
              <a:latin typeface="Arial"/>
              <a:ea typeface="Arial"/>
              <a:cs typeface="Arial"/>
              <a:sym typeface="Arial"/>
            </a:endParaRPr>
          </a:p>
        </p:txBody>
      </p:sp>
      <p:sp>
        <p:nvSpPr>
          <p:cNvPr id="142" name="Google Shape;142;p6"/>
          <p:cNvSpPr/>
          <p:nvPr/>
        </p:nvSpPr>
        <p:spPr>
          <a:xfrm>
            <a:off x="7726681" y="1629040"/>
            <a:ext cx="1709927" cy="545823"/>
          </a:xfrm>
          <a:prstGeom prst="roundRect">
            <a:avLst>
              <a:gd fmla="val 7619" name="adj"/>
            </a:avLst>
          </a:prstGeom>
          <a:solidFill>
            <a:srgbClr val="8C6EE8"/>
          </a:solidFill>
          <a:ln cap="flat" cmpd="sng" w="12700">
            <a:solidFill>
              <a:srgbClr val="8C6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7891272" y="1554480"/>
            <a:ext cx="1545336" cy="7315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MongoDB</a:t>
            </a:r>
            <a:endParaRPr sz="14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Atlas</a:t>
            </a:r>
            <a:endParaRPr sz="1400">
              <a:solidFill>
                <a:schemeClr val="dk1"/>
              </a:solidFill>
              <a:latin typeface="Arial"/>
              <a:ea typeface="Arial"/>
              <a:cs typeface="Arial"/>
              <a:sym typeface="Arial"/>
            </a:endParaRPr>
          </a:p>
        </p:txBody>
      </p:sp>
      <p:sp>
        <p:nvSpPr>
          <p:cNvPr id="144" name="Google Shape;144;p6"/>
          <p:cNvSpPr/>
          <p:nvPr/>
        </p:nvSpPr>
        <p:spPr>
          <a:xfrm>
            <a:off x="2880360" y="3977640"/>
            <a:ext cx="1874520" cy="960120"/>
          </a:xfrm>
          <a:prstGeom prst="roundRect">
            <a:avLst>
              <a:gd fmla="val 7619" name="adj"/>
            </a:avLst>
          </a:prstGeom>
          <a:solidFill>
            <a:srgbClr val="61C4D8"/>
          </a:solidFill>
          <a:ln cap="flat" cmpd="sng" w="12700">
            <a:solidFill>
              <a:srgbClr val="61C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3044952" y="4114800"/>
            <a:ext cx="1545336" cy="7315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Mobile App</a:t>
            </a:r>
            <a:endParaRPr sz="14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Expo</a:t>
            </a:r>
            <a:endParaRPr sz="1400">
              <a:solidFill>
                <a:schemeClr val="dk1"/>
              </a:solidFill>
              <a:latin typeface="Arial"/>
              <a:ea typeface="Arial"/>
              <a:cs typeface="Arial"/>
              <a:sym typeface="Arial"/>
            </a:endParaRPr>
          </a:p>
        </p:txBody>
      </p:sp>
      <p:sp>
        <p:nvSpPr>
          <p:cNvPr id="146" name="Google Shape;146;p6"/>
          <p:cNvSpPr/>
          <p:nvPr/>
        </p:nvSpPr>
        <p:spPr>
          <a:xfrm>
            <a:off x="685800" y="3977640"/>
            <a:ext cx="1874520" cy="960120"/>
          </a:xfrm>
          <a:prstGeom prst="roundRect">
            <a:avLst>
              <a:gd fmla="val 7619" name="adj"/>
            </a:avLst>
          </a:prstGeom>
          <a:solidFill>
            <a:srgbClr val="D9A441"/>
          </a:solidFill>
          <a:ln cap="flat" cmpd="sng" w="12700">
            <a:solidFill>
              <a:srgbClr val="D9A4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850392" y="4114800"/>
            <a:ext cx="1545336" cy="7315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QR / Gebruiker</a:t>
            </a:r>
            <a:endParaRPr sz="1400">
              <a:solidFill>
                <a:schemeClr val="dk1"/>
              </a:solidFill>
              <a:latin typeface="Arial"/>
              <a:ea typeface="Arial"/>
              <a:cs typeface="Arial"/>
              <a:sym typeface="Arial"/>
            </a:endParaRPr>
          </a:p>
        </p:txBody>
      </p:sp>
      <p:cxnSp>
        <p:nvCxnSpPr>
          <p:cNvPr id="148" name="Google Shape;148;p6"/>
          <p:cNvCxnSpPr/>
          <p:nvPr/>
        </p:nvCxnSpPr>
        <p:spPr>
          <a:xfrm>
            <a:off x="2606040" y="1901952"/>
            <a:ext cx="256032" cy="0"/>
          </a:xfrm>
          <a:prstGeom prst="straightConnector1">
            <a:avLst/>
          </a:prstGeom>
          <a:noFill/>
          <a:ln cap="flat" cmpd="sng" w="12700">
            <a:solidFill>
              <a:schemeClr val="accent1"/>
            </a:solidFill>
            <a:prstDash val="solid"/>
            <a:round/>
            <a:headEnd len="sm" w="sm" type="none"/>
            <a:tailEnd len="med" w="med" type="triangle"/>
          </a:ln>
        </p:spPr>
      </p:cxnSp>
      <p:cxnSp>
        <p:nvCxnSpPr>
          <p:cNvPr id="149" name="Google Shape;149;p6"/>
          <p:cNvCxnSpPr/>
          <p:nvPr/>
        </p:nvCxnSpPr>
        <p:spPr>
          <a:xfrm>
            <a:off x="4879594" y="1980389"/>
            <a:ext cx="576072" cy="731519"/>
          </a:xfrm>
          <a:prstGeom prst="straightConnector1">
            <a:avLst/>
          </a:prstGeom>
          <a:noFill/>
          <a:ln cap="flat" cmpd="sng" w="12700">
            <a:solidFill>
              <a:schemeClr val="accent1"/>
            </a:solidFill>
            <a:prstDash val="solid"/>
            <a:round/>
            <a:headEnd len="sm" w="sm" type="none"/>
            <a:tailEnd len="med" w="med" type="triangle"/>
          </a:ln>
        </p:spPr>
      </p:cxnSp>
      <p:cxnSp>
        <p:nvCxnSpPr>
          <p:cNvPr id="150" name="Google Shape;150;p6"/>
          <p:cNvCxnSpPr/>
          <p:nvPr/>
        </p:nvCxnSpPr>
        <p:spPr>
          <a:xfrm flipH="1" rot="10800000">
            <a:off x="7129018" y="1901951"/>
            <a:ext cx="533654" cy="731517"/>
          </a:xfrm>
          <a:prstGeom prst="straightConnector1">
            <a:avLst/>
          </a:prstGeom>
          <a:noFill/>
          <a:ln cap="flat" cmpd="sng" w="12700">
            <a:solidFill>
              <a:schemeClr val="accent1"/>
            </a:solidFill>
            <a:prstDash val="solid"/>
            <a:round/>
            <a:headEnd len="sm" w="sm" type="none"/>
            <a:tailEnd len="med" w="med" type="triangle"/>
          </a:ln>
        </p:spPr>
      </p:cxnSp>
      <p:cxnSp>
        <p:nvCxnSpPr>
          <p:cNvPr id="151" name="Google Shape;151;p6"/>
          <p:cNvCxnSpPr/>
          <p:nvPr/>
        </p:nvCxnSpPr>
        <p:spPr>
          <a:xfrm>
            <a:off x="2606040" y="4462272"/>
            <a:ext cx="256032" cy="0"/>
          </a:xfrm>
          <a:prstGeom prst="straightConnector1">
            <a:avLst/>
          </a:prstGeom>
          <a:noFill/>
          <a:ln cap="flat" cmpd="sng" w="12700">
            <a:solidFill>
              <a:schemeClr val="accent1"/>
            </a:solidFill>
            <a:prstDash val="solid"/>
            <a:round/>
            <a:headEnd len="sm" w="sm" type="none"/>
            <a:tailEnd len="med" w="med" type="triangle"/>
          </a:ln>
        </p:spPr>
      </p:cxnSp>
      <p:cxnSp>
        <p:nvCxnSpPr>
          <p:cNvPr id="152" name="Google Shape;152;p6"/>
          <p:cNvCxnSpPr/>
          <p:nvPr/>
        </p:nvCxnSpPr>
        <p:spPr>
          <a:xfrm flipH="1" rot="10800000">
            <a:off x="4873752" y="3703320"/>
            <a:ext cx="576072" cy="758952"/>
          </a:xfrm>
          <a:prstGeom prst="straightConnector1">
            <a:avLst/>
          </a:prstGeom>
          <a:noFill/>
          <a:ln cap="flat" cmpd="sng" w="12700">
            <a:solidFill>
              <a:schemeClr val="accent1"/>
            </a:solidFill>
            <a:prstDash val="solid"/>
            <a:round/>
            <a:headEnd len="sm" w="sm" type="none"/>
            <a:tailEnd len="med" w="med" type="triangle"/>
          </a:ln>
        </p:spPr>
      </p:cxnSp>
      <p:sp>
        <p:nvSpPr>
          <p:cNvPr id="153" name="Google Shape;153;p6"/>
          <p:cNvSpPr/>
          <p:nvPr/>
        </p:nvSpPr>
        <p:spPr>
          <a:xfrm>
            <a:off x="9449612" y="4815028"/>
            <a:ext cx="2074876" cy="1463040"/>
          </a:xfrm>
          <a:prstGeom prst="roundRect">
            <a:avLst>
              <a:gd fmla="val 50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9629774" y="4996484"/>
            <a:ext cx="1681353"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API ROL</a:t>
            </a:r>
            <a:endParaRPr sz="1200">
              <a:solidFill>
                <a:srgbClr val="0070C0"/>
              </a:solidFill>
              <a:latin typeface="Arial"/>
              <a:ea typeface="Arial"/>
              <a:cs typeface="Arial"/>
              <a:sym typeface="Arial"/>
            </a:endParaRPr>
          </a:p>
        </p:txBody>
      </p:sp>
      <p:sp>
        <p:nvSpPr>
          <p:cNvPr id="155" name="Google Shape;155;p6"/>
          <p:cNvSpPr/>
          <p:nvPr/>
        </p:nvSpPr>
        <p:spPr>
          <a:xfrm>
            <a:off x="9629774" y="5340096"/>
            <a:ext cx="1681354" cy="8961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Alle data-verkeer loop deur die API sodat Web en Mobile dieselfde databron gebruik.</a:t>
            </a:r>
            <a:endParaRPr sz="1080">
              <a:solidFill>
                <a:schemeClr val="dk1"/>
              </a:solidFill>
              <a:latin typeface="Arial"/>
              <a:ea typeface="Arial"/>
              <a:cs typeface="Arial"/>
              <a:sym typeface="Arial"/>
            </a:endParaRPr>
          </a:p>
        </p:txBody>
      </p:sp>
      <p:sp>
        <p:nvSpPr>
          <p:cNvPr id="156" name="Google Shape;156;p6"/>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157" name="Google Shape;157;p6"/>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
        <p:nvSpPr>
          <p:cNvPr id="158" name="Google Shape;158;p6"/>
          <p:cNvSpPr/>
          <p:nvPr/>
        </p:nvSpPr>
        <p:spPr>
          <a:xfrm>
            <a:off x="7714324" y="4198885"/>
            <a:ext cx="1709927" cy="545823"/>
          </a:xfrm>
          <a:prstGeom prst="roundRect">
            <a:avLst>
              <a:gd fmla="val 7619" name="adj"/>
            </a:avLst>
          </a:prstGeom>
          <a:solidFill>
            <a:srgbClr val="8C6EE8"/>
          </a:solidFill>
          <a:ln cap="flat" cmpd="sng" w="12700">
            <a:solidFill>
              <a:srgbClr val="8C6E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6"/>
          <p:cNvSpPr/>
          <p:nvPr/>
        </p:nvSpPr>
        <p:spPr>
          <a:xfrm>
            <a:off x="7773650" y="4180580"/>
            <a:ext cx="1615985" cy="59928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QR-funksionaliteit</a:t>
            </a:r>
            <a:endParaRPr sz="1400">
              <a:solidFill>
                <a:schemeClr val="dk1"/>
              </a:solidFill>
              <a:latin typeface="Arial"/>
              <a:ea typeface="Arial"/>
              <a:cs typeface="Arial"/>
              <a:sym typeface="Arial"/>
            </a:endParaRPr>
          </a:p>
        </p:txBody>
      </p:sp>
      <p:sp>
        <p:nvSpPr>
          <p:cNvPr id="160" name="Google Shape;160;p6"/>
          <p:cNvSpPr/>
          <p:nvPr/>
        </p:nvSpPr>
        <p:spPr>
          <a:xfrm>
            <a:off x="7726680" y="2913963"/>
            <a:ext cx="1709927" cy="545823"/>
          </a:xfrm>
          <a:prstGeom prst="roundRect">
            <a:avLst>
              <a:gd fmla="val 7619" name="adj"/>
            </a:avLst>
          </a:prstGeom>
          <a:solidFill>
            <a:srgbClr val="8C6EE8"/>
          </a:solidFill>
          <a:ln cap="flat" cmpd="sng" w="12700">
            <a:solidFill>
              <a:srgbClr val="8C6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7843483" y="2887230"/>
            <a:ext cx="1545336" cy="59928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400"/>
              <a:buFont typeface="Arial"/>
              <a:buNone/>
            </a:pPr>
            <a:r>
              <a:rPr lang="en-US" sz="1400">
                <a:solidFill>
                  <a:srgbClr val="FFFFFF"/>
                </a:solidFill>
                <a:latin typeface="Arial"/>
                <a:ea typeface="Arial"/>
                <a:cs typeface="Arial"/>
                <a:sym typeface="Arial"/>
              </a:rPr>
              <a:t>Kennisgewingdiens</a:t>
            </a:r>
            <a:endParaRPr sz="1400">
              <a:solidFill>
                <a:schemeClr val="dk1"/>
              </a:solidFill>
              <a:latin typeface="Arial"/>
              <a:ea typeface="Arial"/>
              <a:cs typeface="Arial"/>
              <a:sym typeface="Arial"/>
            </a:endParaRPr>
          </a:p>
        </p:txBody>
      </p:sp>
      <p:cxnSp>
        <p:nvCxnSpPr>
          <p:cNvPr id="162" name="Google Shape;162;p6"/>
          <p:cNvCxnSpPr/>
          <p:nvPr/>
        </p:nvCxnSpPr>
        <p:spPr>
          <a:xfrm>
            <a:off x="7123176" y="3800043"/>
            <a:ext cx="556532" cy="662228"/>
          </a:xfrm>
          <a:prstGeom prst="straightConnector1">
            <a:avLst/>
          </a:prstGeom>
          <a:noFill/>
          <a:ln cap="flat" cmpd="sng" w="12700">
            <a:solidFill>
              <a:schemeClr val="accent1"/>
            </a:solidFill>
            <a:prstDash val="solid"/>
            <a:round/>
            <a:headEnd len="sm" w="sm" type="none"/>
            <a:tailEnd len="med" w="med" type="triangle"/>
          </a:ln>
        </p:spPr>
      </p:cxnSp>
      <p:cxnSp>
        <p:nvCxnSpPr>
          <p:cNvPr id="163" name="Google Shape;163;p6"/>
          <p:cNvCxnSpPr/>
          <p:nvPr/>
        </p:nvCxnSpPr>
        <p:spPr>
          <a:xfrm>
            <a:off x="7223760" y="3224022"/>
            <a:ext cx="438912" cy="0"/>
          </a:xfrm>
          <a:prstGeom prst="straightConnector1">
            <a:avLst/>
          </a:prstGeom>
          <a:noFill/>
          <a:ln cap="flat" cmpd="sng" w="12700">
            <a:solidFill>
              <a:schemeClr val="accent1"/>
            </a:solidFill>
            <a:prstDash val="solid"/>
            <a:round/>
            <a:headEnd len="sm" w="sm"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168" name="Shape 168"/>
        <p:cNvGrpSpPr/>
        <p:nvPr/>
      </p:nvGrpSpPr>
      <p:grpSpPr>
        <a:xfrm>
          <a:off x="0" y="0"/>
          <a:ext cx="0" cy="0"/>
          <a:chOff x="0" y="0"/>
          <a:chExt cx="0" cy="0"/>
        </a:xfrm>
      </p:grpSpPr>
      <p:sp>
        <p:nvSpPr>
          <p:cNvPr id="169" name="Google Shape;169;p7"/>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06 / KERNVLOEI</a:t>
            </a:r>
            <a:endParaRPr sz="1100">
              <a:solidFill>
                <a:srgbClr val="0070C0"/>
              </a:solidFill>
              <a:latin typeface="Arial"/>
              <a:ea typeface="Arial"/>
              <a:cs typeface="Arial"/>
              <a:sym typeface="Arial"/>
            </a:endParaRPr>
          </a:p>
        </p:txBody>
      </p:sp>
      <p:sp>
        <p:nvSpPr>
          <p:cNvPr id="172" name="Google Shape;172;p7"/>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Van gebruikeraksie tot databasis-resultaat</a:t>
            </a:r>
            <a:endParaRPr sz="1900">
              <a:solidFill>
                <a:schemeClr val="dk1"/>
              </a:solidFill>
              <a:latin typeface="Arial"/>
              <a:ea typeface="Arial"/>
              <a:cs typeface="Arial"/>
              <a:sym typeface="Arial"/>
            </a:endParaRPr>
          </a:p>
        </p:txBody>
      </p:sp>
      <p:sp>
        <p:nvSpPr>
          <p:cNvPr id="173" name="Google Shape;173;p7"/>
          <p:cNvSpPr/>
          <p:nvPr/>
        </p:nvSpPr>
        <p:spPr>
          <a:xfrm>
            <a:off x="1344168" y="141732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1344168"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01</a:t>
            </a:r>
            <a:endParaRPr sz="1000">
              <a:solidFill>
                <a:schemeClr val="dk1"/>
              </a:solidFill>
              <a:latin typeface="Arial"/>
              <a:ea typeface="Arial"/>
              <a:cs typeface="Arial"/>
              <a:sym typeface="Arial"/>
            </a:endParaRPr>
          </a:p>
        </p:txBody>
      </p:sp>
      <p:sp>
        <p:nvSpPr>
          <p:cNvPr id="175" name="Google Shape;175;p7"/>
          <p:cNvSpPr/>
          <p:nvPr/>
        </p:nvSpPr>
        <p:spPr>
          <a:xfrm>
            <a:off x="685800" y="2057400"/>
            <a:ext cx="1783080" cy="2057400"/>
          </a:xfrm>
          <a:prstGeom prst="roundRect">
            <a:avLst>
              <a:gd fmla="val 410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850392" y="2194560"/>
            <a:ext cx="1453896" cy="18288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Gebruiker voer data in of skandeer QR</a:t>
            </a:r>
            <a:endParaRPr sz="1300">
              <a:solidFill>
                <a:schemeClr val="dk1"/>
              </a:solidFill>
              <a:latin typeface="Arial"/>
              <a:ea typeface="Arial"/>
              <a:cs typeface="Arial"/>
              <a:sym typeface="Arial"/>
            </a:endParaRPr>
          </a:p>
        </p:txBody>
      </p:sp>
      <p:cxnSp>
        <p:nvCxnSpPr>
          <p:cNvPr id="177" name="Google Shape;177;p7"/>
          <p:cNvCxnSpPr/>
          <p:nvPr/>
        </p:nvCxnSpPr>
        <p:spPr>
          <a:xfrm>
            <a:off x="2478024" y="3063240"/>
            <a:ext cx="420624" cy="0"/>
          </a:xfrm>
          <a:prstGeom prst="straightConnector1">
            <a:avLst/>
          </a:prstGeom>
          <a:noFill/>
          <a:ln cap="flat" cmpd="sng" w="12700">
            <a:solidFill>
              <a:schemeClr val="accent1"/>
            </a:solidFill>
            <a:prstDash val="solid"/>
            <a:round/>
            <a:headEnd len="sm" w="sm" type="none"/>
            <a:tailEnd len="med" w="med" type="triangle"/>
          </a:ln>
        </p:spPr>
      </p:cxnSp>
      <p:sp>
        <p:nvSpPr>
          <p:cNvPr id="178" name="Google Shape;178;p7"/>
          <p:cNvSpPr/>
          <p:nvPr/>
        </p:nvSpPr>
        <p:spPr>
          <a:xfrm>
            <a:off x="3584448" y="141732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3584448"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02</a:t>
            </a:r>
            <a:endParaRPr sz="1000">
              <a:solidFill>
                <a:schemeClr val="dk1"/>
              </a:solidFill>
              <a:latin typeface="Arial"/>
              <a:ea typeface="Arial"/>
              <a:cs typeface="Arial"/>
              <a:sym typeface="Arial"/>
            </a:endParaRPr>
          </a:p>
        </p:txBody>
      </p:sp>
      <p:sp>
        <p:nvSpPr>
          <p:cNvPr id="180" name="Google Shape;180;p7"/>
          <p:cNvSpPr/>
          <p:nvPr/>
        </p:nvSpPr>
        <p:spPr>
          <a:xfrm>
            <a:off x="2926080" y="2057400"/>
            <a:ext cx="1783080" cy="2057400"/>
          </a:xfrm>
          <a:prstGeom prst="roundRect">
            <a:avLst>
              <a:gd fmla="val 410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3090672" y="2194560"/>
            <a:ext cx="1453896" cy="18288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Web/Mobile stuur request na API</a:t>
            </a:r>
            <a:endParaRPr sz="1300">
              <a:solidFill>
                <a:schemeClr val="dk1"/>
              </a:solidFill>
              <a:latin typeface="Arial"/>
              <a:ea typeface="Arial"/>
              <a:cs typeface="Arial"/>
              <a:sym typeface="Arial"/>
            </a:endParaRPr>
          </a:p>
        </p:txBody>
      </p:sp>
      <p:cxnSp>
        <p:nvCxnSpPr>
          <p:cNvPr id="182" name="Google Shape;182;p7"/>
          <p:cNvCxnSpPr/>
          <p:nvPr/>
        </p:nvCxnSpPr>
        <p:spPr>
          <a:xfrm>
            <a:off x="4718304" y="3063240"/>
            <a:ext cx="420624" cy="0"/>
          </a:xfrm>
          <a:prstGeom prst="straightConnector1">
            <a:avLst/>
          </a:prstGeom>
          <a:noFill/>
          <a:ln cap="flat" cmpd="sng" w="12700">
            <a:solidFill>
              <a:schemeClr val="accent1"/>
            </a:solidFill>
            <a:prstDash val="solid"/>
            <a:round/>
            <a:headEnd len="sm" w="sm" type="none"/>
            <a:tailEnd len="med" w="med" type="triangle"/>
          </a:ln>
        </p:spPr>
      </p:cxnSp>
      <p:sp>
        <p:nvSpPr>
          <p:cNvPr id="183" name="Google Shape;183;p7"/>
          <p:cNvSpPr/>
          <p:nvPr/>
        </p:nvSpPr>
        <p:spPr>
          <a:xfrm>
            <a:off x="5824728" y="141732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5824728"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03</a:t>
            </a:r>
            <a:endParaRPr sz="1000">
              <a:solidFill>
                <a:schemeClr val="dk1"/>
              </a:solidFill>
              <a:latin typeface="Arial"/>
              <a:ea typeface="Arial"/>
              <a:cs typeface="Arial"/>
              <a:sym typeface="Arial"/>
            </a:endParaRPr>
          </a:p>
        </p:txBody>
      </p:sp>
      <p:sp>
        <p:nvSpPr>
          <p:cNvPr id="185" name="Google Shape;185;p7"/>
          <p:cNvSpPr/>
          <p:nvPr/>
        </p:nvSpPr>
        <p:spPr>
          <a:xfrm>
            <a:off x="5166360" y="2057400"/>
            <a:ext cx="1783080" cy="2057400"/>
          </a:xfrm>
          <a:prstGeom prst="roundRect">
            <a:avLst>
              <a:gd fmla="val 410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5330952" y="2194560"/>
            <a:ext cx="1453896" cy="18288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API valideer data en gebruikerrol</a:t>
            </a:r>
            <a:endParaRPr sz="1300">
              <a:solidFill>
                <a:schemeClr val="dk1"/>
              </a:solidFill>
              <a:latin typeface="Arial"/>
              <a:ea typeface="Arial"/>
              <a:cs typeface="Arial"/>
              <a:sym typeface="Arial"/>
            </a:endParaRPr>
          </a:p>
        </p:txBody>
      </p:sp>
      <p:cxnSp>
        <p:nvCxnSpPr>
          <p:cNvPr id="187" name="Google Shape;187;p7"/>
          <p:cNvCxnSpPr/>
          <p:nvPr/>
        </p:nvCxnSpPr>
        <p:spPr>
          <a:xfrm>
            <a:off x="6958584" y="3063240"/>
            <a:ext cx="420624" cy="0"/>
          </a:xfrm>
          <a:prstGeom prst="straightConnector1">
            <a:avLst/>
          </a:prstGeom>
          <a:noFill/>
          <a:ln cap="flat" cmpd="sng" w="12700">
            <a:solidFill>
              <a:schemeClr val="accent1"/>
            </a:solidFill>
            <a:prstDash val="solid"/>
            <a:round/>
            <a:headEnd len="sm" w="sm" type="none"/>
            <a:tailEnd len="med" w="med" type="triangle"/>
          </a:ln>
        </p:spPr>
      </p:cxnSp>
      <p:sp>
        <p:nvSpPr>
          <p:cNvPr id="188" name="Google Shape;188;p7"/>
          <p:cNvSpPr/>
          <p:nvPr/>
        </p:nvSpPr>
        <p:spPr>
          <a:xfrm>
            <a:off x="8065008" y="141732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8065008"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04</a:t>
            </a:r>
            <a:endParaRPr sz="1000">
              <a:solidFill>
                <a:schemeClr val="dk1"/>
              </a:solidFill>
              <a:latin typeface="Arial"/>
              <a:ea typeface="Arial"/>
              <a:cs typeface="Arial"/>
              <a:sym typeface="Arial"/>
            </a:endParaRPr>
          </a:p>
        </p:txBody>
      </p:sp>
      <p:sp>
        <p:nvSpPr>
          <p:cNvPr id="190" name="Google Shape;190;p7"/>
          <p:cNvSpPr/>
          <p:nvPr/>
        </p:nvSpPr>
        <p:spPr>
          <a:xfrm>
            <a:off x="7406640" y="2057400"/>
            <a:ext cx="1783080" cy="2057400"/>
          </a:xfrm>
          <a:prstGeom prst="roundRect">
            <a:avLst>
              <a:gd fmla="val 410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7571232" y="2194560"/>
            <a:ext cx="1453896" cy="18288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API lees/skryf na MongoDB</a:t>
            </a:r>
            <a:endParaRPr sz="1300">
              <a:solidFill>
                <a:schemeClr val="dk1"/>
              </a:solidFill>
              <a:latin typeface="Arial"/>
              <a:ea typeface="Arial"/>
              <a:cs typeface="Arial"/>
              <a:sym typeface="Arial"/>
            </a:endParaRPr>
          </a:p>
        </p:txBody>
      </p:sp>
      <p:cxnSp>
        <p:nvCxnSpPr>
          <p:cNvPr id="192" name="Google Shape;192;p7"/>
          <p:cNvCxnSpPr/>
          <p:nvPr/>
        </p:nvCxnSpPr>
        <p:spPr>
          <a:xfrm>
            <a:off x="9198864" y="3063240"/>
            <a:ext cx="420624" cy="0"/>
          </a:xfrm>
          <a:prstGeom prst="straightConnector1">
            <a:avLst/>
          </a:prstGeom>
          <a:noFill/>
          <a:ln cap="flat" cmpd="sng" w="12700">
            <a:solidFill>
              <a:schemeClr val="accent1"/>
            </a:solidFill>
            <a:prstDash val="solid"/>
            <a:round/>
            <a:headEnd len="sm" w="sm" type="none"/>
            <a:tailEnd len="med" w="med" type="triangle"/>
          </a:ln>
        </p:spPr>
      </p:cxnSp>
      <p:sp>
        <p:nvSpPr>
          <p:cNvPr id="193" name="Google Shape;193;p7"/>
          <p:cNvSpPr/>
          <p:nvPr/>
        </p:nvSpPr>
        <p:spPr>
          <a:xfrm>
            <a:off x="10305288" y="141732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10305288" y="157467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05</a:t>
            </a:r>
            <a:endParaRPr sz="1000">
              <a:solidFill>
                <a:schemeClr val="dk1"/>
              </a:solidFill>
              <a:latin typeface="Arial"/>
              <a:ea typeface="Arial"/>
              <a:cs typeface="Arial"/>
              <a:sym typeface="Arial"/>
            </a:endParaRPr>
          </a:p>
        </p:txBody>
      </p:sp>
      <p:sp>
        <p:nvSpPr>
          <p:cNvPr id="195" name="Google Shape;195;p7"/>
          <p:cNvSpPr/>
          <p:nvPr/>
        </p:nvSpPr>
        <p:spPr>
          <a:xfrm>
            <a:off x="9646920" y="2057400"/>
            <a:ext cx="1783080" cy="2057400"/>
          </a:xfrm>
          <a:prstGeom prst="roundRect">
            <a:avLst>
              <a:gd fmla="val 410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9811512" y="2194560"/>
            <a:ext cx="1453896" cy="18288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300"/>
              <a:buFont typeface="Arial"/>
              <a:buNone/>
            </a:pPr>
            <a:r>
              <a:rPr lang="en-US" sz="1300">
                <a:solidFill>
                  <a:srgbClr val="FFFFFF"/>
                </a:solidFill>
                <a:latin typeface="Arial"/>
                <a:ea typeface="Arial"/>
                <a:cs typeface="Arial"/>
                <a:sym typeface="Arial"/>
              </a:rPr>
              <a:t>Resultaat word op skerm teruggewys</a:t>
            </a:r>
            <a:endParaRPr sz="1300">
              <a:solidFill>
                <a:schemeClr val="dk1"/>
              </a:solidFill>
              <a:latin typeface="Arial"/>
              <a:ea typeface="Arial"/>
              <a:cs typeface="Arial"/>
              <a:sym typeface="Arial"/>
            </a:endParaRPr>
          </a:p>
        </p:txBody>
      </p:sp>
      <p:sp>
        <p:nvSpPr>
          <p:cNvPr id="197" name="Google Shape;197;p7"/>
          <p:cNvSpPr/>
          <p:nvPr/>
        </p:nvSpPr>
        <p:spPr>
          <a:xfrm>
            <a:off x="1097280" y="4892040"/>
            <a:ext cx="9921240" cy="777240"/>
          </a:xfrm>
          <a:prstGeom prst="roundRect">
            <a:avLst>
              <a:gd fmla="val 941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1261872" y="5010912"/>
            <a:ext cx="95920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DEMO-BEWYS</a:t>
            </a:r>
            <a:endParaRPr sz="1200">
              <a:solidFill>
                <a:srgbClr val="0070C0"/>
              </a:solidFill>
              <a:latin typeface="Arial"/>
              <a:ea typeface="Arial"/>
              <a:cs typeface="Arial"/>
              <a:sym typeface="Arial"/>
            </a:endParaRPr>
          </a:p>
        </p:txBody>
      </p:sp>
      <p:sp>
        <p:nvSpPr>
          <p:cNvPr id="199" name="Google Shape;199;p7"/>
          <p:cNvSpPr/>
          <p:nvPr/>
        </p:nvSpPr>
        <p:spPr>
          <a:xfrm>
            <a:off x="1261872" y="5367528"/>
            <a:ext cx="9592056" cy="21031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Tydens die demonstrasie moet ons wys dat dieselfde proses suksesvol werk vir normale, foutiewe en alternatiewe insette.</a:t>
            </a:r>
            <a:endParaRPr sz="1300">
              <a:solidFill>
                <a:schemeClr val="dk1"/>
              </a:solidFill>
              <a:latin typeface="Arial"/>
              <a:ea typeface="Arial"/>
              <a:cs typeface="Arial"/>
              <a:sym typeface="Arial"/>
            </a:endParaRPr>
          </a:p>
        </p:txBody>
      </p:sp>
      <p:sp>
        <p:nvSpPr>
          <p:cNvPr id="200" name="Google Shape;200;p7"/>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201" name="Google Shape;201;p7"/>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206" name="Shape 206"/>
        <p:cNvGrpSpPr/>
        <p:nvPr/>
      </p:nvGrpSpPr>
      <p:grpSpPr>
        <a:xfrm>
          <a:off x="0" y="0"/>
          <a:ext cx="0" cy="0"/>
          <a:chOff x="0" y="0"/>
          <a:chExt cx="0" cy="0"/>
        </a:xfrm>
      </p:grpSpPr>
      <p:sp>
        <p:nvSpPr>
          <p:cNvPr id="207" name="Google Shape;207;p8"/>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07 / WEBTOEPASSING</a:t>
            </a:r>
            <a:endParaRPr sz="1100">
              <a:solidFill>
                <a:srgbClr val="0070C0"/>
              </a:solidFill>
              <a:latin typeface="Arial"/>
              <a:ea typeface="Arial"/>
              <a:cs typeface="Arial"/>
              <a:sym typeface="Arial"/>
            </a:endParaRPr>
          </a:p>
        </p:txBody>
      </p:sp>
      <p:sp>
        <p:nvSpPr>
          <p:cNvPr id="210" name="Google Shape;210;p8"/>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Pre-Alfa webskerm vir funksie-/gebruikerbestuur</a:t>
            </a:r>
            <a:endParaRPr sz="1900">
              <a:solidFill>
                <a:schemeClr val="dk1"/>
              </a:solidFill>
              <a:latin typeface="Arial"/>
              <a:ea typeface="Arial"/>
              <a:cs typeface="Arial"/>
              <a:sym typeface="Arial"/>
            </a:endParaRPr>
          </a:p>
        </p:txBody>
      </p:sp>
      <p:sp>
        <p:nvSpPr>
          <p:cNvPr id="211" name="Google Shape;211;p8"/>
          <p:cNvSpPr/>
          <p:nvPr/>
        </p:nvSpPr>
        <p:spPr>
          <a:xfrm>
            <a:off x="685800" y="1188720"/>
            <a:ext cx="3840480" cy="4251960"/>
          </a:xfrm>
          <a:prstGeom prst="roundRect">
            <a:avLst>
              <a:gd fmla="val 1905"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850392" y="1307592"/>
            <a:ext cx="35112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WAT WORD GEWYS?</a:t>
            </a:r>
            <a:endParaRPr sz="1400">
              <a:solidFill>
                <a:srgbClr val="0070C0"/>
              </a:solidFill>
              <a:latin typeface="Arial"/>
              <a:ea typeface="Arial"/>
              <a:cs typeface="Arial"/>
              <a:sym typeface="Arial"/>
            </a:endParaRPr>
          </a:p>
        </p:txBody>
      </p:sp>
      <p:sp>
        <p:nvSpPr>
          <p:cNvPr id="213" name="Google Shape;213;p8"/>
          <p:cNvSpPr/>
          <p:nvPr/>
        </p:nvSpPr>
        <p:spPr>
          <a:xfrm>
            <a:off x="850392" y="1664208"/>
            <a:ext cx="3511296" cy="3685032"/>
          </a:xfrm>
          <a:prstGeom prst="rect">
            <a:avLst/>
          </a:prstGeom>
          <a:noFill/>
          <a:ln>
            <a:noFill/>
          </a:ln>
        </p:spPr>
        <p:txBody>
          <a:bodyPr anchorCtr="0" anchor="ctr" bIns="250" lIns="250" spcFirstLastPara="1" rIns="250" wrap="square" tIns="250">
            <a:normAutofit/>
          </a:bodyPr>
          <a:lstStyle/>
          <a:p>
            <a:pPr indent="-285750" lvl="0" marL="285750" marR="0" rtl="0" algn="l">
              <a:spcBef>
                <a:spcPts val="0"/>
              </a:spcBef>
              <a:spcAft>
                <a:spcPts val="0"/>
              </a:spcAft>
              <a:buClr>
                <a:srgbClr val="C8D1DE"/>
              </a:buClr>
              <a:buSzPts val="1240"/>
              <a:buFont typeface="Arial"/>
              <a:buChar char="•"/>
            </a:pPr>
            <a:r>
              <a:rPr lang="en-US" sz="1240">
                <a:solidFill>
                  <a:srgbClr val="C8D1DE"/>
                </a:solidFill>
                <a:latin typeface="Arial"/>
                <a:ea typeface="Arial"/>
                <a:cs typeface="Arial"/>
                <a:sym typeface="Arial"/>
              </a:rPr>
              <a:t>Kernskerm is gebou</a:t>
            </a:r>
            <a:endParaRPr sz="124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240"/>
              <a:buFont typeface="Arial"/>
              <a:buChar char="•"/>
            </a:pPr>
            <a:r>
              <a:rPr lang="en-US" sz="1240">
                <a:solidFill>
                  <a:srgbClr val="C8D1DE"/>
                </a:solidFill>
                <a:latin typeface="Arial"/>
                <a:ea typeface="Arial"/>
                <a:cs typeface="Arial"/>
                <a:sym typeface="Arial"/>
              </a:rPr>
              <a:t>Gebruiker/funksie-data kan ingevoer of gelaai word</a:t>
            </a:r>
            <a:endParaRPr sz="124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240"/>
              <a:buFont typeface="Arial"/>
              <a:buChar char="•"/>
            </a:pPr>
            <a:r>
              <a:rPr lang="en-US" sz="1240">
                <a:solidFill>
                  <a:srgbClr val="C8D1DE"/>
                </a:solidFill>
                <a:latin typeface="Arial"/>
                <a:ea typeface="Arial"/>
                <a:cs typeface="Arial"/>
                <a:sym typeface="Arial"/>
              </a:rPr>
              <a:t>Vormvalidasie werk</a:t>
            </a:r>
            <a:endParaRPr sz="124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240"/>
              <a:buFont typeface="Arial"/>
              <a:buChar char="•"/>
            </a:pPr>
            <a:r>
              <a:rPr lang="en-US" sz="1240">
                <a:solidFill>
                  <a:srgbClr val="C8D1DE"/>
                </a:solidFill>
                <a:latin typeface="Arial"/>
                <a:ea typeface="Arial"/>
                <a:cs typeface="Arial"/>
                <a:sym typeface="Arial"/>
              </a:rPr>
              <a:t>API-response word op die skerm hanteer</a:t>
            </a:r>
            <a:endParaRPr sz="1240">
              <a:solidFill>
                <a:schemeClr val="dk1"/>
              </a:solidFill>
              <a:latin typeface="Arial"/>
              <a:ea typeface="Arial"/>
              <a:cs typeface="Arial"/>
              <a:sym typeface="Arial"/>
            </a:endParaRPr>
          </a:p>
          <a:p>
            <a:pPr indent="-285750" lvl="0" marL="285750" marR="0" rtl="0" algn="l">
              <a:spcBef>
                <a:spcPts val="0"/>
              </a:spcBef>
              <a:spcAft>
                <a:spcPts val="0"/>
              </a:spcAft>
              <a:buClr>
                <a:srgbClr val="C8D1DE"/>
              </a:buClr>
              <a:buSzPts val="1240"/>
              <a:buFont typeface="Arial"/>
              <a:buChar char="•"/>
            </a:pPr>
            <a:r>
              <a:rPr lang="en-US" sz="1240">
                <a:solidFill>
                  <a:srgbClr val="C8D1DE"/>
                </a:solidFill>
                <a:latin typeface="Arial"/>
                <a:ea typeface="Arial"/>
                <a:cs typeface="Arial"/>
                <a:sym typeface="Arial"/>
              </a:rPr>
              <a:t>Data word nie net staties vertoon nie</a:t>
            </a:r>
            <a:endParaRPr sz="1240">
              <a:solidFill>
                <a:schemeClr val="dk1"/>
              </a:solidFill>
              <a:latin typeface="Arial"/>
              <a:ea typeface="Arial"/>
              <a:cs typeface="Arial"/>
              <a:sym typeface="Arial"/>
            </a:endParaRPr>
          </a:p>
          <a:p>
            <a:pPr indent="-207010" lvl="0" marL="285750" marR="0" rtl="0" algn="l">
              <a:spcBef>
                <a:spcPts val="0"/>
              </a:spcBef>
              <a:spcAft>
                <a:spcPts val="0"/>
              </a:spcAft>
              <a:buClr>
                <a:schemeClr val="dk1"/>
              </a:buClr>
              <a:buSzPts val="1240"/>
              <a:buFont typeface="Arial"/>
              <a:buNone/>
            </a:pPr>
            <a:r>
              <a:t/>
            </a:r>
            <a:endParaRPr sz="1240">
              <a:solidFill>
                <a:schemeClr val="dk1"/>
              </a:solidFill>
              <a:latin typeface="Arial"/>
              <a:ea typeface="Arial"/>
              <a:cs typeface="Arial"/>
              <a:sym typeface="Arial"/>
            </a:endParaRPr>
          </a:p>
        </p:txBody>
      </p:sp>
      <p:sp>
        <p:nvSpPr>
          <p:cNvPr id="214" name="Google Shape;214;p8"/>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215" name="Google Shape;215;p8"/>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pic>
        <p:nvPicPr>
          <p:cNvPr id="216" name="Google Shape;216;p8"/>
          <p:cNvPicPr preferRelativeResize="0"/>
          <p:nvPr/>
        </p:nvPicPr>
        <p:blipFill rotWithShape="1">
          <a:blip r:embed="rId3">
            <a:alphaModFix/>
          </a:blip>
          <a:srcRect b="0" l="0" r="0" t="0"/>
          <a:stretch/>
        </p:blipFill>
        <p:spPr>
          <a:xfrm>
            <a:off x="4913223" y="1188720"/>
            <a:ext cx="6891528" cy="43072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221" name="Shape 221"/>
        <p:cNvGrpSpPr/>
        <p:nvPr/>
      </p:nvGrpSpPr>
      <p:grpSpPr>
        <a:xfrm>
          <a:off x="0" y="0"/>
          <a:ext cx="0" cy="0"/>
          <a:chOff x="0" y="0"/>
          <a:chExt cx="0" cy="0"/>
        </a:xfrm>
      </p:grpSpPr>
      <p:sp>
        <p:nvSpPr>
          <p:cNvPr id="222" name="Google Shape;222;p9"/>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08 / MOBIELE TOEPASSING</a:t>
            </a:r>
            <a:endParaRPr sz="1100">
              <a:solidFill>
                <a:srgbClr val="0070C0"/>
              </a:solidFill>
              <a:latin typeface="Arial"/>
              <a:ea typeface="Arial"/>
              <a:cs typeface="Arial"/>
              <a:sym typeface="Arial"/>
            </a:endParaRPr>
          </a:p>
        </p:txBody>
      </p:sp>
      <p:sp>
        <p:nvSpPr>
          <p:cNvPr id="225" name="Google Shape;225;p9"/>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Pre-Alfa mobiele skerm vir QR/toegangsaksie</a:t>
            </a:r>
            <a:endParaRPr sz="1900">
              <a:solidFill>
                <a:schemeClr val="dk1"/>
              </a:solidFill>
              <a:latin typeface="Arial"/>
              <a:ea typeface="Arial"/>
              <a:cs typeface="Arial"/>
              <a:sym typeface="Arial"/>
            </a:endParaRPr>
          </a:p>
        </p:txBody>
      </p:sp>
      <p:sp>
        <p:nvSpPr>
          <p:cNvPr id="226" name="Google Shape;226;p9"/>
          <p:cNvSpPr/>
          <p:nvPr/>
        </p:nvSpPr>
        <p:spPr>
          <a:xfrm>
            <a:off x="685800" y="1188720"/>
            <a:ext cx="3840480" cy="4251960"/>
          </a:xfrm>
          <a:prstGeom prst="roundRect">
            <a:avLst>
              <a:gd fmla="val 1905"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850392" y="1307592"/>
            <a:ext cx="35112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WAT WORD GEWYS?</a:t>
            </a:r>
            <a:endParaRPr sz="1400">
              <a:solidFill>
                <a:srgbClr val="0070C0"/>
              </a:solidFill>
              <a:latin typeface="Arial"/>
              <a:ea typeface="Arial"/>
              <a:cs typeface="Arial"/>
              <a:sym typeface="Arial"/>
            </a:endParaRPr>
          </a:p>
        </p:txBody>
      </p:sp>
      <p:sp>
        <p:nvSpPr>
          <p:cNvPr id="228" name="Google Shape;228;p9"/>
          <p:cNvSpPr/>
          <p:nvPr/>
        </p:nvSpPr>
        <p:spPr>
          <a:xfrm>
            <a:off x="850392" y="1664208"/>
            <a:ext cx="3511296" cy="3685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Mobiele kernskerm is gebou</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QR of funksie-aksie word uitgevoer</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Mobile stuur request na dieselfde API</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Geldige en ongeldig gevalle gee verskillende resultate</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Gebruiker kry duidelike terugvoer</a:t>
            </a:r>
            <a:endParaRPr sz="1240">
              <a:solidFill>
                <a:schemeClr val="dk1"/>
              </a:solidFill>
              <a:latin typeface="Arial"/>
              <a:ea typeface="Arial"/>
              <a:cs typeface="Arial"/>
              <a:sym typeface="Arial"/>
            </a:endParaRPr>
          </a:p>
        </p:txBody>
      </p:sp>
      <p:sp>
        <p:nvSpPr>
          <p:cNvPr id="229" name="Google Shape;229;p9"/>
          <p:cNvSpPr/>
          <p:nvPr/>
        </p:nvSpPr>
        <p:spPr>
          <a:xfrm>
            <a:off x="8275320" y="1828800"/>
            <a:ext cx="2834640" cy="2468880"/>
          </a:xfrm>
          <a:prstGeom prst="roundRect">
            <a:avLst>
              <a:gd fmla="val 2963"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8439912" y="1947672"/>
            <a:ext cx="25054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MOBILE BEWYS</a:t>
            </a:r>
            <a:endParaRPr sz="1300">
              <a:solidFill>
                <a:srgbClr val="0070C0"/>
              </a:solidFill>
              <a:latin typeface="Arial"/>
              <a:ea typeface="Arial"/>
              <a:cs typeface="Arial"/>
              <a:sym typeface="Arial"/>
            </a:endParaRPr>
          </a:p>
        </p:txBody>
      </p:sp>
      <p:sp>
        <p:nvSpPr>
          <p:cNvPr id="231" name="Google Shape;231;p9"/>
          <p:cNvSpPr/>
          <p:nvPr/>
        </p:nvSpPr>
        <p:spPr>
          <a:xfrm>
            <a:off x="8439912" y="2304288"/>
            <a:ext cx="2505456" cy="19019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00"/>
              <a:buFont typeface="Arial"/>
              <a:buNone/>
            </a:pPr>
            <a:r>
              <a:rPr lang="en-US" sz="1200">
                <a:solidFill>
                  <a:srgbClr val="C8D1DE"/>
                </a:solidFill>
                <a:latin typeface="Arial"/>
                <a:ea typeface="Arial"/>
                <a:cs typeface="Arial"/>
                <a:sym typeface="Arial"/>
              </a:rPr>
              <a:t>Die mobiele app moet nie net ’n UI wees nie — dit moet ’n API-call maak en die terugvoer korrek vertoon.</a:t>
            </a:r>
            <a:endParaRPr sz="1200">
              <a:solidFill>
                <a:schemeClr val="dk1"/>
              </a:solidFill>
              <a:latin typeface="Arial"/>
              <a:ea typeface="Arial"/>
              <a:cs typeface="Arial"/>
              <a:sym typeface="Arial"/>
            </a:endParaRPr>
          </a:p>
        </p:txBody>
      </p:sp>
      <p:sp>
        <p:nvSpPr>
          <p:cNvPr id="232" name="Google Shape;232;p9"/>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233" name="Google Shape;233;p9"/>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pic>
        <p:nvPicPr>
          <p:cNvPr id="234" name="Google Shape;234;p9"/>
          <p:cNvPicPr preferRelativeResize="0"/>
          <p:nvPr/>
        </p:nvPicPr>
        <p:blipFill rotWithShape="1">
          <a:blip r:embed="rId3">
            <a:alphaModFix/>
          </a:blip>
          <a:srcRect b="1963" l="35891" r="36006" t="1264"/>
          <a:stretch/>
        </p:blipFill>
        <p:spPr>
          <a:xfrm>
            <a:off x="5534026" y="1107567"/>
            <a:ext cx="2216040" cy="46634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239" name="Shape 239"/>
        <p:cNvGrpSpPr/>
        <p:nvPr/>
      </p:nvGrpSpPr>
      <p:grpSpPr>
        <a:xfrm>
          <a:off x="0" y="0"/>
          <a:ext cx="0" cy="0"/>
          <a:chOff x="0" y="0"/>
          <a:chExt cx="0" cy="0"/>
        </a:xfrm>
      </p:grpSpPr>
      <p:sp>
        <p:nvSpPr>
          <p:cNvPr id="240" name="Google Shape;240;p10"/>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09 / WEBAPI</a:t>
            </a:r>
            <a:endParaRPr sz="1100">
              <a:solidFill>
                <a:srgbClr val="0070C0"/>
              </a:solidFill>
              <a:latin typeface="Arial"/>
              <a:ea typeface="Arial"/>
              <a:cs typeface="Arial"/>
              <a:sym typeface="Arial"/>
            </a:endParaRPr>
          </a:p>
        </p:txBody>
      </p:sp>
      <p:sp>
        <p:nvSpPr>
          <p:cNvPr id="243" name="Google Shape;243;p10"/>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Koppelpunt tussen Web, Mobile en MongoDB</a:t>
            </a:r>
            <a:endParaRPr sz="1900">
              <a:solidFill>
                <a:schemeClr val="dk1"/>
              </a:solidFill>
              <a:latin typeface="Arial"/>
              <a:ea typeface="Arial"/>
              <a:cs typeface="Arial"/>
              <a:sym typeface="Arial"/>
            </a:endParaRPr>
          </a:p>
        </p:txBody>
      </p:sp>
      <p:sp>
        <p:nvSpPr>
          <p:cNvPr id="244" name="Google Shape;244;p10"/>
          <p:cNvSpPr/>
          <p:nvPr/>
        </p:nvSpPr>
        <p:spPr>
          <a:xfrm>
            <a:off x="685800" y="1234440"/>
            <a:ext cx="3657600" cy="4251960"/>
          </a:xfrm>
          <a:prstGeom prst="roundRect">
            <a:avLst>
              <a:gd fmla="val 20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850392" y="1353312"/>
            <a:ext cx="33284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API VERANTWOORDELIKHEID</a:t>
            </a:r>
            <a:endParaRPr sz="1400">
              <a:solidFill>
                <a:srgbClr val="0070C0"/>
              </a:solidFill>
              <a:latin typeface="Arial"/>
              <a:ea typeface="Arial"/>
              <a:cs typeface="Arial"/>
              <a:sym typeface="Arial"/>
            </a:endParaRPr>
          </a:p>
        </p:txBody>
      </p:sp>
      <p:sp>
        <p:nvSpPr>
          <p:cNvPr id="246" name="Google Shape;246;p10"/>
          <p:cNvSpPr/>
          <p:nvPr/>
        </p:nvSpPr>
        <p:spPr>
          <a:xfrm>
            <a:off x="850392" y="1709928"/>
            <a:ext cx="3328416" cy="3685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Ontvang requests vanaf Web en Mobile</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Valideer insette en gebruikerstatus</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Lees/skryf data na MongoDB</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Stuur duidelike response terug</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Hanteer foutgevalle konsekwent</a:t>
            </a:r>
            <a:endParaRPr sz="1240">
              <a:solidFill>
                <a:schemeClr val="dk1"/>
              </a:solidFill>
              <a:latin typeface="Arial"/>
              <a:ea typeface="Arial"/>
              <a:cs typeface="Arial"/>
              <a:sym typeface="Arial"/>
            </a:endParaRPr>
          </a:p>
        </p:txBody>
      </p:sp>
      <p:sp>
        <p:nvSpPr>
          <p:cNvPr id="247" name="Google Shape;247;p10"/>
          <p:cNvSpPr/>
          <p:nvPr/>
        </p:nvSpPr>
        <p:spPr>
          <a:xfrm>
            <a:off x="4709160" y="1234440"/>
            <a:ext cx="2971800" cy="4251960"/>
          </a:xfrm>
          <a:prstGeom prst="roundRect">
            <a:avLst>
              <a:gd fmla="val 246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4873752" y="1353312"/>
            <a:ext cx="2642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VOORBEELD ENDPOINTS</a:t>
            </a:r>
            <a:endParaRPr sz="1400">
              <a:solidFill>
                <a:srgbClr val="0070C0"/>
              </a:solidFill>
              <a:latin typeface="Arial"/>
              <a:ea typeface="Arial"/>
              <a:cs typeface="Arial"/>
              <a:sym typeface="Arial"/>
            </a:endParaRPr>
          </a:p>
        </p:txBody>
      </p:sp>
      <p:sp>
        <p:nvSpPr>
          <p:cNvPr id="249" name="Google Shape;249;p10"/>
          <p:cNvSpPr/>
          <p:nvPr/>
        </p:nvSpPr>
        <p:spPr>
          <a:xfrm>
            <a:off x="4873752" y="1709928"/>
            <a:ext cx="2642616" cy="3685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50"/>
              <a:buFont typeface="Arial"/>
              <a:buNone/>
            </a:pPr>
            <a:r>
              <a:rPr lang="en-US" sz="1350">
                <a:solidFill>
                  <a:srgbClr val="C8D1DE"/>
                </a:solidFill>
                <a:latin typeface="Arial"/>
                <a:ea typeface="Arial"/>
                <a:cs typeface="Arial"/>
                <a:sym typeface="Arial"/>
              </a:rPr>
              <a:t>POST /auth/register</a:t>
            </a:r>
            <a:endParaRPr sz="13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50"/>
              <a:buFont typeface="Arial"/>
              <a:buNone/>
            </a:pPr>
            <a:r>
              <a:rPr lang="en-US" sz="1350">
                <a:solidFill>
                  <a:srgbClr val="C8D1DE"/>
                </a:solidFill>
                <a:latin typeface="Arial"/>
                <a:ea typeface="Arial"/>
                <a:cs typeface="Arial"/>
                <a:sym typeface="Arial"/>
              </a:rPr>
              <a:t>POST /auth/login</a:t>
            </a:r>
            <a:endParaRPr sz="13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50"/>
              <a:buFont typeface="Arial"/>
              <a:buNone/>
            </a:pPr>
            <a:r>
              <a:rPr lang="en-US" sz="1350">
                <a:solidFill>
                  <a:srgbClr val="C8D1DE"/>
                </a:solidFill>
                <a:latin typeface="Arial"/>
                <a:ea typeface="Arial"/>
                <a:cs typeface="Arial"/>
                <a:sym typeface="Arial"/>
              </a:rPr>
              <a:t>GET /events</a:t>
            </a:r>
            <a:endParaRPr sz="13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50"/>
              <a:buFont typeface="Arial"/>
              <a:buNone/>
            </a:pPr>
            <a:r>
              <a:rPr lang="en-US" sz="1350">
                <a:solidFill>
                  <a:srgbClr val="C8D1DE"/>
                </a:solidFill>
                <a:latin typeface="Arial"/>
                <a:ea typeface="Arial"/>
                <a:cs typeface="Arial"/>
                <a:sym typeface="Arial"/>
              </a:rPr>
              <a:t>POST /events</a:t>
            </a:r>
            <a:endParaRPr sz="13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50"/>
              <a:buFont typeface="Arial"/>
              <a:buNone/>
            </a:pPr>
            <a:r>
              <a:rPr lang="en-US" sz="1350">
                <a:solidFill>
                  <a:srgbClr val="C8D1DE"/>
                </a:solidFill>
                <a:latin typeface="Arial"/>
                <a:ea typeface="Arial"/>
                <a:cs typeface="Arial"/>
                <a:sym typeface="Arial"/>
              </a:rPr>
              <a:t>POST /qr/generate</a:t>
            </a:r>
            <a:endParaRPr sz="13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350"/>
              <a:buFont typeface="Arial"/>
              <a:buNone/>
            </a:pPr>
            <a:r>
              <a:rPr lang="en-US" sz="1350">
                <a:solidFill>
                  <a:srgbClr val="C8D1DE"/>
                </a:solidFill>
                <a:latin typeface="Arial"/>
                <a:ea typeface="Arial"/>
                <a:cs typeface="Arial"/>
                <a:sym typeface="Arial"/>
              </a:rPr>
              <a:t>POST /qr/validate</a:t>
            </a:r>
            <a:endParaRPr sz="1350">
              <a:solidFill>
                <a:schemeClr val="dk1"/>
              </a:solidFill>
              <a:latin typeface="Arial"/>
              <a:ea typeface="Arial"/>
              <a:cs typeface="Arial"/>
              <a:sym typeface="Arial"/>
            </a:endParaRPr>
          </a:p>
        </p:txBody>
      </p:sp>
      <p:sp>
        <p:nvSpPr>
          <p:cNvPr id="250" name="Google Shape;250;p10"/>
          <p:cNvSpPr/>
          <p:nvPr/>
        </p:nvSpPr>
        <p:spPr>
          <a:xfrm>
            <a:off x="8046720" y="1234440"/>
            <a:ext cx="3246120" cy="4251960"/>
          </a:xfrm>
          <a:prstGeom prst="roundRect">
            <a:avLst>
              <a:gd fmla="val 2254"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8211312" y="1353312"/>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DEMO-BEWYS</a:t>
            </a:r>
            <a:endParaRPr sz="1400">
              <a:solidFill>
                <a:srgbClr val="0070C0"/>
              </a:solidFill>
              <a:latin typeface="Arial"/>
              <a:ea typeface="Arial"/>
              <a:cs typeface="Arial"/>
              <a:sym typeface="Arial"/>
            </a:endParaRPr>
          </a:p>
        </p:txBody>
      </p:sp>
      <p:sp>
        <p:nvSpPr>
          <p:cNvPr id="252" name="Google Shape;252;p10"/>
          <p:cNvSpPr/>
          <p:nvPr/>
        </p:nvSpPr>
        <p:spPr>
          <a:xfrm>
            <a:off x="8211312" y="1709928"/>
            <a:ext cx="2916936" cy="3685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Wys een suksesvolle request, een foutiewe request en een alternatiewe geldige request.</a:t>
            </a:r>
            <a:endParaRPr sz="124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40"/>
              <a:buFont typeface="Arial"/>
              <a:buNone/>
            </a:pPr>
            <a:r>
              <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By voorkeur: Postman of browser dev tools + UI-resultaat.</a:t>
            </a:r>
            <a:endParaRPr sz="1240">
              <a:solidFill>
                <a:schemeClr val="dk1"/>
              </a:solidFill>
              <a:latin typeface="Arial"/>
              <a:ea typeface="Arial"/>
              <a:cs typeface="Arial"/>
              <a:sym typeface="Arial"/>
            </a:endParaRPr>
          </a:p>
        </p:txBody>
      </p:sp>
      <p:sp>
        <p:nvSpPr>
          <p:cNvPr id="253" name="Google Shape;253;p10"/>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254" name="Google Shape;254;p10"/>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259" name="Shape 259"/>
        <p:cNvGrpSpPr/>
        <p:nvPr/>
      </p:nvGrpSpPr>
      <p:grpSpPr>
        <a:xfrm>
          <a:off x="0" y="0"/>
          <a:ext cx="0" cy="0"/>
          <a:chOff x="0" y="0"/>
          <a:chExt cx="0" cy="0"/>
        </a:xfrm>
      </p:grpSpPr>
      <p:sp>
        <p:nvSpPr>
          <p:cNvPr id="260" name="Google Shape;260;p11"/>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10 / DATABASIS</a:t>
            </a:r>
            <a:endParaRPr sz="1100">
              <a:solidFill>
                <a:srgbClr val="0070C0"/>
              </a:solidFill>
              <a:latin typeface="Arial"/>
              <a:ea typeface="Arial"/>
              <a:cs typeface="Arial"/>
              <a:sym typeface="Arial"/>
            </a:endParaRPr>
          </a:p>
        </p:txBody>
      </p:sp>
      <p:sp>
        <p:nvSpPr>
          <p:cNvPr id="263" name="Google Shape;263;p11"/>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Pre-Alfa collections en data-integriteit</a:t>
            </a:r>
            <a:endParaRPr sz="1900">
              <a:solidFill>
                <a:schemeClr val="dk1"/>
              </a:solidFill>
              <a:latin typeface="Arial"/>
              <a:ea typeface="Arial"/>
              <a:cs typeface="Arial"/>
              <a:sym typeface="Arial"/>
            </a:endParaRPr>
          </a:p>
        </p:txBody>
      </p:sp>
      <p:sp>
        <p:nvSpPr>
          <p:cNvPr id="264" name="Google Shape;264;p11"/>
          <p:cNvSpPr/>
          <p:nvPr/>
        </p:nvSpPr>
        <p:spPr>
          <a:xfrm>
            <a:off x="685800" y="1417320"/>
            <a:ext cx="2423160" cy="2560320"/>
          </a:xfrm>
          <a:prstGeom prst="roundRect">
            <a:avLst>
              <a:gd fmla="val 301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850392" y="1536192"/>
            <a:ext cx="2093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Users</a:t>
            </a:r>
            <a:endParaRPr sz="1300">
              <a:solidFill>
                <a:srgbClr val="0070C0"/>
              </a:solidFill>
              <a:latin typeface="Arial"/>
              <a:ea typeface="Arial"/>
              <a:cs typeface="Arial"/>
              <a:sym typeface="Arial"/>
            </a:endParaRPr>
          </a:p>
        </p:txBody>
      </p:sp>
      <p:sp>
        <p:nvSpPr>
          <p:cNvPr id="266" name="Google Shape;266;p11"/>
          <p:cNvSpPr/>
          <p:nvPr/>
        </p:nvSpPr>
        <p:spPr>
          <a:xfrm>
            <a:off x="850392" y="1892808"/>
            <a:ext cx="2093976" cy="19933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Gebruiker-ID</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Naam / e-pos</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Rol / status</a:t>
            </a:r>
            <a:endParaRPr sz="1250">
              <a:solidFill>
                <a:schemeClr val="dk1"/>
              </a:solidFill>
              <a:latin typeface="Arial"/>
              <a:ea typeface="Arial"/>
              <a:cs typeface="Arial"/>
              <a:sym typeface="Arial"/>
            </a:endParaRPr>
          </a:p>
        </p:txBody>
      </p:sp>
      <p:sp>
        <p:nvSpPr>
          <p:cNvPr id="267" name="Google Shape;267;p11"/>
          <p:cNvSpPr/>
          <p:nvPr/>
        </p:nvSpPr>
        <p:spPr>
          <a:xfrm>
            <a:off x="3474720" y="1417320"/>
            <a:ext cx="2423160" cy="2560320"/>
          </a:xfrm>
          <a:prstGeom prst="roundRect">
            <a:avLst>
              <a:gd fmla="val 301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3639312" y="1536192"/>
            <a:ext cx="2093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Events</a:t>
            </a:r>
            <a:endParaRPr sz="1300">
              <a:solidFill>
                <a:srgbClr val="0070C0"/>
              </a:solidFill>
              <a:latin typeface="Arial"/>
              <a:ea typeface="Arial"/>
              <a:cs typeface="Arial"/>
              <a:sym typeface="Arial"/>
            </a:endParaRPr>
          </a:p>
        </p:txBody>
      </p:sp>
      <p:sp>
        <p:nvSpPr>
          <p:cNvPr id="269" name="Google Shape;269;p11"/>
          <p:cNvSpPr/>
          <p:nvPr/>
        </p:nvSpPr>
        <p:spPr>
          <a:xfrm>
            <a:off x="3639312" y="1892808"/>
            <a:ext cx="2093976" cy="19933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Funksie-ID</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Titel / datum</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Status / metadata</a:t>
            </a:r>
            <a:endParaRPr sz="1250">
              <a:solidFill>
                <a:schemeClr val="dk1"/>
              </a:solidFill>
              <a:latin typeface="Arial"/>
              <a:ea typeface="Arial"/>
              <a:cs typeface="Arial"/>
              <a:sym typeface="Arial"/>
            </a:endParaRPr>
          </a:p>
        </p:txBody>
      </p:sp>
      <p:sp>
        <p:nvSpPr>
          <p:cNvPr id="270" name="Google Shape;270;p11"/>
          <p:cNvSpPr/>
          <p:nvPr/>
        </p:nvSpPr>
        <p:spPr>
          <a:xfrm>
            <a:off x="6263640" y="1417320"/>
            <a:ext cx="2423160" cy="2560320"/>
          </a:xfrm>
          <a:prstGeom prst="roundRect">
            <a:avLst>
              <a:gd fmla="val 301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6428232" y="1536192"/>
            <a:ext cx="2093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RSVP / Attendance</a:t>
            </a:r>
            <a:endParaRPr sz="1300">
              <a:solidFill>
                <a:srgbClr val="0070C0"/>
              </a:solidFill>
              <a:latin typeface="Arial"/>
              <a:ea typeface="Arial"/>
              <a:cs typeface="Arial"/>
              <a:sym typeface="Arial"/>
            </a:endParaRPr>
          </a:p>
        </p:txBody>
      </p:sp>
      <p:sp>
        <p:nvSpPr>
          <p:cNvPr id="272" name="Google Shape;272;p11"/>
          <p:cNvSpPr/>
          <p:nvPr/>
        </p:nvSpPr>
        <p:spPr>
          <a:xfrm>
            <a:off x="6428232" y="1892808"/>
            <a:ext cx="2093976" cy="19933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Bywoner-data</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RSVP-status</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Toegangsstatus</a:t>
            </a:r>
            <a:endParaRPr sz="1250">
              <a:solidFill>
                <a:schemeClr val="dk1"/>
              </a:solidFill>
              <a:latin typeface="Arial"/>
              <a:ea typeface="Arial"/>
              <a:cs typeface="Arial"/>
              <a:sym typeface="Arial"/>
            </a:endParaRPr>
          </a:p>
        </p:txBody>
      </p:sp>
      <p:sp>
        <p:nvSpPr>
          <p:cNvPr id="273" name="Google Shape;273;p11"/>
          <p:cNvSpPr/>
          <p:nvPr/>
        </p:nvSpPr>
        <p:spPr>
          <a:xfrm>
            <a:off x="9052560" y="1417320"/>
            <a:ext cx="2423160" cy="2560320"/>
          </a:xfrm>
          <a:prstGeom prst="roundRect">
            <a:avLst>
              <a:gd fmla="val 301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9217152" y="1536192"/>
            <a:ext cx="2093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300"/>
              <a:buFont typeface="Play"/>
              <a:buNone/>
            </a:pPr>
            <a:r>
              <a:rPr b="1" lang="en-US" sz="1300">
                <a:solidFill>
                  <a:srgbClr val="0070C0"/>
                </a:solidFill>
                <a:latin typeface="Play"/>
                <a:ea typeface="Play"/>
                <a:cs typeface="Play"/>
                <a:sym typeface="Play"/>
              </a:rPr>
              <a:t>QR Codes</a:t>
            </a:r>
            <a:endParaRPr sz="1300">
              <a:solidFill>
                <a:srgbClr val="0070C0"/>
              </a:solidFill>
              <a:latin typeface="Arial"/>
              <a:ea typeface="Arial"/>
              <a:cs typeface="Arial"/>
              <a:sym typeface="Arial"/>
            </a:endParaRPr>
          </a:p>
        </p:txBody>
      </p:sp>
      <p:sp>
        <p:nvSpPr>
          <p:cNvPr id="275" name="Google Shape;275;p11"/>
          <p:cNvSpPr/>
          <p:nvPr/>
        </p:nvSpPr>
        <p:spPr>
          <a:xfrm>
            <a:off x="9217152" y="1892808"/>
            <a:ext cx="2093976" cy="19933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QR-token</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Funksie-koppeling</a:t>
            </a:r>
            <a:endParaRPr sz="125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50"/>
              <a:buFont typeface="Arial"/>
              <a:buNone/>
            </a:pPr>
            <a:r>
              <a:rPr lang="en-US" sz="1250">
                <a:solidFill>
                  <a:srgbClr val="C8D1DE"/>
                </a:solidFill>
                <a:latin typeface="Arial"/>
                <a:ea typeface="Arial"/>
                <a:cs typeface="Arial"/>
                <a:sym typeface="Arial"/>
              </a:rPr>
              <a:t>Geldig/ongeldig</a:t>
            </a:r>
            <a:endParaRPr sz="1250">
              <a:solidFill>
                <a:schemeClr val="dk1"/>
              </a:solidFill>
              <a:latin typeface="Arial"/>
              <a:ea typeface="Arial"/>
              <a:cs typeface="Arial"/>
              <a:sym typeface="Arial"/>
            </a:endParaRPr>
          </a:p>
        </p:txBody>
      </p:sp>
      <p:sp>
        <p:nvSpPr>
          <p:cNvPr id="276" name="Google Shape;276;p11"/>
          <p:cNvSpPr/>
          <p:nvPr/>
        </p:nvSpPr>
        <p:spPr>
          <a:xfrm>
            <a:off x="1143000" y="4617720"/>
            <a:ext cx="9829800" cy="822960"/>
          </a:xfrm>
          <a:prstGeom prst="roundRect">
            <a:avLst>
              <a:gd fmla="val 8889"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1307592" y="4736592"/>
            <a:ext cx="9500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DATABASIS-BEWYS</a:t>
            </a:r>
            <a:endParaRPr sz="1200">
              <a:solidFill>
                <a:srgbClr val="0070C0"/>
              </a:solidFill>
              <a:latin typeface="Arial"/>
              <a:ea typeface="Arial"/>
              <a:cs typeface="Arial"/>
              <a:sym typeface="Arial"/>
            </a:endParaRPr>
          </a:p>
        </p:txBody>
      </p:sp>
      <p:sp>
        <p:nvSpPr>
          <p:cNvPr id="278" name="Google Shape;278;p11"/>
          <p:cNvSpPr/>
          <p:nvPr/>
        </p:nvSpPr>
        <p:spPr>
          <a:xfrm>
            <a:off x="1307592" y="5093208"/>
            <a:ext cx="9500616" cy="25603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300"/>
              <a:buFont typeface="Arial"/>
              <a:buNone/>
            </a:pPr>
            <a:r>
              <a:rPr lang="en-US" sz="1300">
                <a:solidFill>
                  <a:srgbClr val="C8D1DE"/>
                </a:solidFill>
                <a:latin typeface="Arial"/>
                <a:ea typeface="Arial"/>
                <a:cs typeface="Arial"/>
                <a:sym typeface="Arial"/>
              </a:rPr>
              <a:t>Die belangrikste is om tydens die demo te wys dat data regtig in MongoDB geskryf word en daarna weer deur die API teruggelees word.</a:t>
            </a:r>
            <a:endParaRPr sz="1300">
              <a:solidFill>
                <a:schemeClr val="dk1"/>
              </a:solidFill>
              <a:latin typeface="Arial"/>
              <a:ea typeface="Arial"/>
              <a:cs typeface="Arial"/>
              <a:sym typeface="Arial"/>
            </a:endParaRPr>
          </a:p>
        </p:txBody>
      </p:sp>
      <p:sp>
        <p:nvSpPr>
          <p:cNvPr id="279" name="Google Shape;279;p11"/>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280" name="Google Shape;280;p11"/>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285" name="Shape 285"/>
        <p:cNvGrpSpPr/>
        <p:nvPr/>
      </p:nvGrpSpPr>
      <p:grpSpPr>
        <a:xfrm>
          <a:off x="0" y="0"/>
          <a:ext cx="0" cy="0"/>
          <a:chOff x="0" y="0"/>
          <a:chExt cx="0" cy="0"/>
        </a:xfrm>
      </p:grpSpPr>
      <p:sp>
        <p:nvSpPr>
          <p:cNvPr id="286" name="Google Shape;286;p12"/>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11 / DEMO-SCENARIO’S</a:t>
            </a:r>
            <a:endParaRPr sz="1100">
              <a:solidFill>
                <a:srgbClr val="0070C0"/>
              </a:solidFill>
              <a:latin typeface="Arial"/>
              <a:ea typeface="Arial"/>
              <a:cs typeface="Arial"/>
              <a:sym typeface="Arial"/>
            </a:endParaRPr>
          </a:p>
        </p:txBody>
      </p:sp>
      <p:sp>
        <p:nvSpPr>
          <p:cNvPr id="289" name="Google Shape;289;p12"/>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Beste, slegste en alternatiewe geval vir die kernfunksie</a:t>
            </a:r>
            <a:endParaRPr sz="1900">
              <a:solidFill>
                <a:schemeClr val="dk1"/>
              </a:solidFill>
              <a:latin typeface="Arial"/>
              <a:ea typeface="Arial"/>
              <a:cs typeface="Arial"/>
              <a:sym typeface="Arial"/>
            </a:endParaRPr>
          </a:p>
        </p:txBody>
      </p:sp>
      <p:sp>
        <p:nvSpPr>
          <p:cNvPr id="290" name="Google Shape;290;p12"/>
          <p:cNvSpPr/>
          <p:nvPr/>
        </p:nvSpPr>
        <p:spPr>
          <a:xfrm>
            <a:off x="685800" y="1234440"/>
            <a:ext cx="2057400" cy="1143000"/>
          </a:xfrm>
          <a:prstGeom prst="roundRect">
            <a:avLst>
              <a:gd fmla="val 4800" name="adj"/>
            </a:avLst>
          </a:prstGeom>
          <a:solidFill>
            <a:srgbClr val="5FB47B"/>
          </a:solidFill>
          <a:ln cap="flat" cmpd="sng" w="12700">
            <a:solidFill>
              <a:srgbClr val="5FB4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p:nvPr/>
        </p:nvSpPr>
        <p:spPr>
          <a:xfrm>
            <a:off x="822960" y="1738268"/>
            <a:ext cx="17832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BESTE GEVAL</a:t>
            </a:r>
            <a:endParaRPr sz="1100">
              <a:solidFill>
                <a:schemeClr val="dk1"/>
              </a:solidFill>
              <a:latin typeface="Arial"/>
              <a:ea typeface="Arial"/>
              <a:cs typeface="Arial"/>
              <a:sym typeface="Arial"/>
            </a:endParaRPr>
          </a:p>
        </p:txBody>
      </p:sp>
      <p:sp>
        <p:nvSpPr>
          <p:cNvPr id="292" name="Google Shape;292;p12"/>
          <p:cNvSpPr/>
          <p:nvPr/>
        </p:nvSpPr>
        <p:spPr>
          <a:xfrm>
            <a:off x="2971800" y="1234440"/>
            <a:ext cx="365760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3136392" y="1353312"/>
            <a:ext cx="33284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INSET / AKSIE</a:t>
            </a:r>
            <a:endParaRPr sz="1100">
              <a:solidFill>
                <a:srgbClr val="0070C0"/>
              </a:solidFill>
              <a:latin typeface="Arial"/>
              <a:ea typeface="Arial"/>
              <a:cs typeface="Arial"/>
              <a:sym typeface="Arial"/>
            </a:endParaRPr>
          </a:p>
        </p:txBody>
      </p:sp>
      <p:sp>
        <p:nvSpPr>
          <p:cNvPr id="294" name="Google Shape;294;p12"/>
          <p:cNvSpPr/>
          <p:nvPr/>
        </p:nvSpPr>
        <p:spPr>
          <a:xfrm>
            <a:off x="3136392" y="1709928"/>
            <a:ext cx="332841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Geldige gebruiker voer geldige data in / geldige QR word gebruik.</a:t>
            </a:r>
            <a:endParaRPr sz="1080">
              <a:solidFill>
                <a:schemeClr val="dk1"/>
              </a:solidFill>
              <a:latin typeface="Arial"/>
              <a:ea typeface="Arial"/>
              <a:cs typeface="Arial"/>
              <a:sym typeface="Arial"/>
            </a:endParaRPr>
          </a:p>
        </p:txBody>
      </p:sp>
      <p:sp>
        <p:nvSpPr>
          <p:cNvPr id="295" name="Google Shape;295;p12"/>
          <p:cNvSpPr/>
          <p:nvPr/>
        </p:nvSpPr>
        <p:spPr>
          <a:xfrm>
            <a:off x="6995160" y="1234440"/>
            <a:ext cx="416052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7159752" y="1353312"/>
            <a:ext cx="38313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VERWAGTE RESULTAAT</a:t>
            </a:r>
            <a:endParaRPr sz="1100">
              <a:solidFill>
                <a:srgbClr val="0070C0"/>
              </a:solidFill>
              <a:latin typeface="Arial"/>
              <a:ea typeface="Arial"/>
              <a:cs typeface="Arial"/>
              <a:sym typeface="Arial"/>
            </a:endParaRPr>
          </a:p>
        </p:txBody>
      </p:sp>
      <p:sp>
        <p:nvSpPr>
          <p:cNvPr id="297" name="Google Shape;297;p12"/>
          <p:cNvSpPr/>
          <p:nvPr/>
        </p:nvSpPr>
        <p:spPr>
          <a:xfrm>
            <a:off x="7159752" y="1709928"/>
            <a:ext cx="383133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API aanvaar request, data word gestoor/gelees en suksesboodskap wys.</a:t>
            </a:r>
            <a:endParaRPr sz="1080">
              <a:solidFill>
                <a:schemeClr val="dk1"/>
              </a:solidFill>
              <a:latin typeface="Arial"/>
              <a:ea typeface="Arial"/>
              <a:cs typeface="Arial"/>
              <a:sym typeface="Arial"/>
            </a:endParaRPr>
          </a:p>
        </p:txBody>
      </p:sp>
      <p:sp>
        <p:nvSpPr>
          <p:cNvPr id="298" name="Google Shape;298;p12"/>
          <p:cNvSpPr/>
          <p:nvPr/>
        </p:nvSpPr>
        <p:spPr>
          <a:xfrm>
            <a:off x="685800" y="2743200"/>
            <a:ext cx="2057400" cy="1143000"/>
          </a:xfrm>
          <a:prstGeom prst="roundRect">
            <a:avLst>
              <a:gd fmla="val 4800" name="adj"/>
            </a:avLst>
          </a:prstGeom>
          <a:solidFill>
            <a:srgbClr val="E05A5A"/>
          </a:solidFill>
          <a:ln cap="flat" cmpd="sng" w="12700">
            <a:solidFill>
              <a:srgbClr val="E0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822960" y="3276653"/>
            <a:ext cx="17832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SLEGSTE GEVAL</a:t>
            </a:r>
            <a:endParaRPr sz="1100">
              <a:solidFill>
                <a:schemeClr val="dk1"/>
              </a:solidFill>
              <a:latin typeface="Arial"/>
              <a:ea typeface="Arial"/>
              <a:cs typeface="Arial"/>
              <a:sym typeface="Arial"/>
            </a:endParaRPr>
          </a:p>
        </p:txBody>
      </p:sp>
      <p:sp>
        <p:nvSpPr>
          <p:cNvPr id="300" name="Google Shape;300;p12"/>
          <p:cNvSpPr/>
          <p:nvPr/>
        </p:nvSpPr>
        <p:spPr>
          <a:xfrm>
            <a:off x="2971800" y="2743200"/>
            <a:ext cx="365760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
          <p:cNvSpPr/>
          <p:nvPr/>
        </p:nvSpPr>
        <p:spPr>
          <a:xfrm>
            <a:off x="3136392" y="2862072"/>
            <a:ext cx="33284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INSET / AKSIE</a:t>
            </a:r>
            <a:endParaRPr sz="1100">
              <a:solidFill>
                <a:srgbClr val="0070C0"/>
              </a:solidFill>
              <a:latin typeface="Arial"/>
              <a:ea typeface="Arial"/>
              <a:cs typeface="Arial"/>
              <a:sym typeface="Arial"/>
            </a:endParaRPr>
          </a:p>
        </p:txBody>
      </p:sp>
      <p:sp>
        <p:nvSpPr>
          <p:cNvPr id="302" name="Google Shape;302;p12"/>
          <p:cNvSpPr/>
          <p:nvPr/>
        </p:nvSpPr>
        <p:spPr>
          <a:xfrm>
            <a:off x="3136392" y="3218688"/>
            <a:ext cx="332841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Vereiste velde ontbreek, verkeerde login of ongeldig QR-token.</a:t>
            </a:r>
            <a:endParaRPr sz="1080">
              <a:solidFill>
                <a:schemeClr val="dk1"/>
              </a:solidFill>
              <a:latin typeface="Arial"/>
              <a:ea typeface="Arial"/>
              <a:cs typeface="Arial"/>
              <a:sym typeface="Arial"/>
            </a:endParaRPr>
          </a:p>
        </p:txBody>
      </p:sp>
      <p:sp>
        <p:nvSpPr>
          <p:cNvPr id="303" name="Google Shape;303;p12"/>
          <p:cNvSpPr/>
          <p:nvPr/>
        </p:nvSpPr>
        <p:spPr>
          <a:xfrm>
            <a:off x="6995160" y="2743200"/>
            <a:ext cx="416052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p:nvPr/>
        </p:nvSpPr>
        <p:spPr>
          <a:xfrm>
            <a:off x="7159752" y="2862072"/>
            <a:ext cx="38313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VERWAGTE RESULTAAT</a:t>
            </a:r>
            <a:endParaRPr sz="1100">
              <a:solidFill>
                <a:srgbClr val="0070C0"/>
              </a:solidFill>
              <a:latin typeface="Arial"/>
              <a:ea typeface="Arial"/>
              <a:cs typeface="Arial"/>
              <a:sym typeface="Arial"/>
            </a:endParaRPr>
          </a:p>
        </p:txBody>
      </p:sp>
      <p:sp>
        <p:nvSpPr>
          <p:cNvPr id="305" name="Google Shape;305;p12"/>
          <p:cNvSpPr/>
          <p:nvPr/>
        </p:nvSpPr>
        <p:spPr>
          <a:xfrm>
            <a:off x="7159752" y="3218688"/>
            <a:ext cx="383133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API weier request met duidelike foutboodskap; geen verkeerde data word gestoor nie.</a:t>
            </a:r>
            <a:endParaRPr sz="1080">
              <a:solidFill>
                <a:schemeClr val="dk1"/>
              </a:solidFill>
              <a:latin typeface="Arial"/>
              <a:ea typeface="Arial"/>
              <a:cs typeface="Arial"/>
              <a:sym typeface="Arial"/>
            </a:endParaRPr>
          </a:p>
        </p:txBody>
      </p:sp>
      <p:sp>
        <p:nvSpPr>
          <p:cNvPr id="306" name="Google Shape;306;p12"/>
          <p:cNvSpPr/>
          <p:nvPr/>
        </p:nvSpPr>
        <p:spPr>
          <a:xfrm>
            <a:off x="685800" y="4251960"/>
            <a:ext cx="2057400" cy="1143000"/>
          </a:xfrm>
          <a:prstGeom prst="roundRect">
            <a:avLst>
              <a:gd fmla="val 4800" name="adj"/>
            </a:avLst>
          </a:prstGeom>
          <a:solidFill>
            <a:srgbClr val="61C4D8"/>
          </a:solidFill>
          <a:ln cap="flat" cmpd="sng" w="12700">
            <a:solidFill>
              <a:srgbClr val="61C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822960" y="4770601"/>
            <a:ext cx="17832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US" sz="1100">
                <a:solidFill>
                  <a:srgbClr val="FFFFFF"/>
                </a:solidFill>
                <a:latin typeface="Arial"/>
                <a:ea typeface="Arial"/>
                <a:cs typeface="Arial"/>
                <a:sym typeface="Arial"/>
              </a:rPr>
              <a:t>ALTERNATIEF</a:t>
            </a:r>
            <a:endParaRPr sz="1100">
              <a:solidFill>
                <a:schemeClr val="dk1"/>
              </a:solidFill>
              <a:latin typeface="Arial"/>
              <a:ea typeface="Arial"/>
              <a:cs typeface="Arial"/>
              <a:sym typeface="Arial"/>
            </a:endParaRPr>
          </a:p>
        </p:txBody>
      </p:sp>
      <p:sp>
        <p:nvSpPr>
          <p:cNvPr id="308" name="Google Shape;308;p12"/>
          <p:cNvSpPr/>
          <p:nvPr/>
        </p:nvSpPr>
        <p:spPr>
          <a:xfrm>
            <a:off x="2971800" y="4251960"/>
            <a:ext cx="365760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p:nvPr/>
        </p:nvSpPr>
        <p:spPr>
          <a:xfrm>
            <a:off x="3136392" y="4370832"/>
            <a:ext cx="33284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INSET / AKSIE</a:t>
            </a:r>
            <a:endParaRPr sz="1100">
              <a:solidFill>
                <a:srgbClr val="0070C0"/>
              </a:solidFill>
              <a:latin typeface="Arial"/>
              <a:ea typeface="Arial"/>
              <a:cs typeface="Arial"/>
              <a:sym typeface="Arial"/>
            </a:endParaRPr>
          </a:p>
        </p:txBody>
      </p:sp>
      <p:sp>
        <p:nvSpPr>
          <p:cNvPr id="310" name="Google Shape;310;p12"/>
          <p:cNvSpPr/>
          <p:nvPr/>
        </p:nvSpPr>
        <p:spPr>
          <a:xfrm>
            <a:off x="3136392" y="4727448"/>
            <a:ext cx="332841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Bestaande gebruiker/funksie word gevind of ander geldige status word hanteer.</a:t>
            </a:r>
            <a:endParaRPr sz="1080">
              <a:solidFill>
                <a:schemeClr val="dk1"/>
              </a:solidFill>
              <a:latin typeface="Arial"/>
              <a:ea typeface="Arial"/>
              <a:cs typeface="Arial"/>
              <a:sym typeface="Arial"/>
            </a:endParaRPr>
          </a:p>
        </p:txBody>
      </p:sp>
      <p:sp>
        <p:nvSpPr>
          <p:cNvPr id="311" name="Google Shape;311;p12"/>
          <p:cNvSpPr/>
          <p:nvPr/>
        </p:nvSpPr>
        <p:spPr>
          <a:xfrm>
            <a:off x="6995160" y="4251960"/>
            <a:ext cx="416052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7159752" y="4370832"/>
            <a:ext cx="38313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VERWAGTE RESULTAAT</a:t>
            </a:r>
            <a:endParaRPr sz="1100">
              <a:solidFill>
                <a:srgbClr val="0070C0"/>
              </a:solidFill>
              <a:latin typeface="Arial"/>
              <a:ea typeface="Arial"/>
              <a:cs typeface="Arial"/>
              <a:sym typeface="Arial"/>
            </a:endParaRPr>
          </a:p>
        </p:txBody>
      </p:sp>
      <p:sp>
        <p:nvSpPr>
          <p:cNvPr id="313" name="Google Shape;313;p12"/>
          <p:cNvSpPr/>
          <p:nvPr/>
        </p:nvSpPr>
        <p:spPr>
          <a:xfrm>
            <a:off x="7159752" y="4727448"/>
            <a:ext cx="383133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80"/>
              <a:buFont typeface="Arial"/>
              <a:buNone/>
            </a:pPr>
            <a:r>
              <a:rPr lang="en-US" sz="1080">
                <a:solidFill>
                  <a:srgbClr val="C8D1DE"/>
                </a:solidFill>
                <a:latin typeface="Arial"/>
                <a:ea typeface="Arial"/>
                <a:cs typeface="Arial"/>
                <a:sym typeface="Arial"/>
              </a:rPr>
              <a:t>Stelsel wys toepaslike status en hanteer die pad sonder crash of verkeerde data.</a:t>
            </a:r>
            <a:endParaRPr sz="1080">
              <a:solidFill>
                <a:schemeClr val="dk1"/>
              </a:solidFill>
              <a:latin typeface="Arial"/>
              <a:ea typeface="Arial"/>
              <a:cs typeface="Arial"/>
              <a:sym typeface="Arial"/>
            </a:endParaRPr>
          </a:p>
        </p:txBody>
      </p:sp>
      <p:sp>
        <p:nvSpPr>
          <p:cNvPr id="314" name="Google Shape;314;p12"/>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315" name="Google Shape;315;p12"/>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320" name="Shape 320"/>
        <p:cNvGrpSpPr/>
        <p:nvPr/>
      </p:nvGrpSpPr>
      <p:grpSpPr>
        <a:xfrm>
          <a:off x="0" y="0"/>
          <a:ext cx="0" cy="0"/>
          <a:chOff x="0" y="0"/>
          <a:chExt cx="0" cy="0"/>
        </a:xfrm>
      </p:grpSpPr>
      <p:sp>
        <p:nvSpPr>
          <p:cNvPr id="321" name="Google Shape;321;p13"/>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12 / PRE-ALFA STATUS</a:t>
            </a:r>
            <a:endParaRPr sz="1100">
              <a:solidFill>
                <a:srgbClr val="0070C0"/>
              </a:solidFill>
              <a:latin typeface="Arial"/>
              <a:ea typeface="Arial"/>
              <a:cs typeface="Arial"/>
              <a:sym typeface="Arial"/>
            </a:endParaRPr>
          </a:p>
        </p:txBody>
      </p:sp>
      <p:sp>
        <p:nvSpPr>
          <p:cNvPr id="324" name="Google Shape;324;p13"/>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Wat werk reeds en wat skuif na volgende fases</a:t>
            </a:r>
            <a:endParaRPr sz="1900">
              <a:solidFill>
                <a:schemeClr val="dk1"/>
              </a:solidFill>
              <a:latin typeface="Arial"/>
              <a:ea typeface="Arial"/>
              <a:cs typeface="Arial"/>
              <a:sym typeface="Arial"/>
            </a:endParaRPr>
          </a:p>
        </p:txBody>
      </p:sp>
      <p:sp>
        <p:nvSpPr>
          <p:cNvPr id="325" name="Google Shape;325;p13"/>
          <p:cNvSpPr/>
          <p:nvPr/>
        </p:nvSpPr>
        <p:spPr>
          <a:xfrm>
            <a:off x="685800" y="1234440"/>
            <a:ext cx="5074920" cy="4297680"/>
          </a:xfrm>
          <a:prstGeom prst="roundRect">
            <a:avLst>
              <a:gd fmla="val 170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3"/>
          <p:cNvSpPr/>
          <p:nvPr/>
        </p:nvSpPr>
        <p:spPr>
          <a:xfrm>
            <a:off x="850392" y="1353312"/>
            <a:ext cx="47457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PRE-ALFA DEMONSTREERBAAR</a:t>
            </a:r>
            <a:endParaRPr sz="1400">
              <a:solidFill>
                <a:srgbClr val="0070C0"/>
              </a:solidFill>
              <a:latin typeface="Arial"/>
              <a:ea typeface="Arial"/>
              <a:cs typeface="Arial"/>
              <a:sym typeface="Arial"/>
            </a:endParaRPr>
          </a:p>
        </p:txBody>
      </p:sp>
      <p:sp>
        <p:nvSpPr>
          <p:cNvPr id="327" name="Google Shape;327;p13"/>
          <p:cNvSpPr/>
          <p:nvPr/>
        </p:nvSpPr>
        <p:spPr>
          <a:xfrm>
            <a:off x="850392" y="1709928"/>
            <a:ext cx="4745736" cy="37307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80"/>
              <a:buFont typeface="Arial"/>
              <a:buNone/>
            </a:pPr>
            <a:r>
              <a:rPr lang="en-US" sz="1280">
                <a:solidFill>
                  <a:srgbClr val="C8D1DE"/>
                </a:solidFill>
                <a:latin typeface="Arial"/>
                <a:ea typeface="Arial"/>
                <a:cs typeface="Arial"/>
                <a:sym typeface="Arial"/>
              </a:rPr>
              <a:t>✓ Basiese gebruiker/register/login-vloei</a:t>
            </a:r>
            <a:endParaRPr sz="128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80"/>
              <a:buFont typeface="Arial"/>
              <a:buNone/>
            </a:pPr>
            <a:r>
              <a:rPr lang="en-US" sz="1280">
                <a:solidFill>
                  <a:srgbClr val="C8D1DE"/>
                </a:solidFill>
                <a:latin typeface="Arial"/>
                <a:ea typeface="Arial"/>
                <a:cs typeface="Arial"/>
                <a:sym typeface="Arial"/>
              </a:rPr>
              <a:t>✓ Webskerm vir kernfunksie</a:t>
            </a:r>
            <a:endParaRPr sz="128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80"/>
              <a:buFont typeface="Arial"/>
              <a:buNone/>
            </a:pPr>
            <a:r>
              <a:rPr lang="en-US" sz="1280">
                <a:solidFill>
                  <a:srgbClr val="C8D1DE"/>
                </a:solidFill>
                <a:latin typeface="Arial"/>
                <a:ea typeface="Arial"/>
                <a:cs typeface="Arial"/>
                <a:sym typeface="Arial"/>
              </a:rPr>
              <a:t>✓ Mobiele skerm vir QR/toegangsaksie</a:t>
            </a:r>
            <a:endParaRPr sz="128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80"/>
              <a:buFont typeface="Arial"/>
              <a:buNone/>
            </a:pPr>
            <a:r>
              <a:rPr lang="en-US" sz="1280">
                <a:solidFill>
                  <a:srgbClr val="C8D1DE"/>
                </a:solidFill>
                <a:latin typeface="Arial"/>
                <a:ea typeface="Arial"/>
                <a:cs typeface="Arial"/>
                <a:sym typeface="Arial"/>
              </a:rPr>
              <a:t>✓ NestJS API verbind frontends met databasis</a:t>
            </a:r>
            <a:endParaRPr sz="128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80"/>
              <a:buFont typeface="Arial"/>
              <a:buNone/>
            </a:pPr>
            <a:r>
              <a:rPr lang="en-US" sz="1280">
                <a:solidFill>
                  <a:srgbClr val="C8D1DE"/>
                </a:solidFill>
                <a:latin typeface="Arial"/>
                <a:ea typeface="Arial"/>
                <a:cs typeface="Arial"/>
                <a:sym typeface="Arial"/>
              </a:rPr>
              <a:t>✓ MongoDB collections bestaan</a:t>
            </a:r>
            <a:endParaRPr sz="128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80"/>
              <a:buFont typeface="Arial"/>
              <a:buNone/>
            </a:pPr>
            <a:r>
              <a:rPr lang="en-US" sz="1280">
                <a:solidFill>
                  <a:srgbClr val="C8D1DE"/>
                </a:solidFill>
                <a:latin typeface="Arial"/>
                <a:ea typeface="Arial"/>
                <a:cs typeface="Arial"/>
                <a:sym typeface="Arial"/>
              </a:rPr>
              <a:t>✓ Beste/slegste/alternatiewe scenario’s kan getoets word</a:t>
            </a:r>
            <a:endParaRPr sz="1280">
              <a:solidFill>
                <a:schemeClr val="dk1"/>
              </a:solidFill>
              <a:latin typeface="Arial"/>
              <a:ea typeface="Arial"/>
              <a:cs typeface="Arial"/>
              <a:sym typeface="Arial"/>
            </a:endParaRPr>
          </a:p>
        </p:txBody>
      </p:sp>
      <p:sp>
        <p:nvSpPr>
          <p:cNvPr id="328" name="Google Shape;328;p13"/>
          <p:cNvSpPr/>
          <p:nvPr/>
        </p:nvSpPr>
        <p:spPr>
          <a:xfrm>
            <a:off x="6172200" y="1234440"/>
            <a:ext cx="5074920" cy="4297680"/>
          </a:xfrm>
          <a:prstGeom prst="roundRect">
            <a:avLst>
              <a:gd fmla="val 1702"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6336792" y="1353312"/>
            <a:ext cx="47457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400"/>
              <a:buFont typeface="Play"/>
              <a:buNone/>
            </a:pPr>
            <a:r>
              <a:rPr b="1" lang="en-US" sz="1400">
                <a:solidFill>
                  <a:srgbClr val="0070C0"/>
                </a:solidFill>
                <a:latin typeface="Play"/>
                <a:ea typeface="Play"/>
                <a:cs typeface="Play"/>
                <a:sym typeface="Play"/>
              </a:rPr>
              <a:t>VOLGENDE FASES</a:t>
            </a:r>
            <a:endParaRPr sz="1400">
              <a:solidFill>
                <a:srgbClr val="0070C0"/>
              </a:solidFill>
              <a:latin typeface="Arial"/>
              <a:ea typeface="Arial"/>
              <a:cs typeface="Arial"/>
              <a:sym typeface="Arial"/>
            </a:endParaRPr>
          </a:p>
        </p:txBody>
      </p:sp>
      <p:sp>
        <p:nvSpPr>
          <p:cNvPr id="330" name="Google Shape;330;p13"/>
          <p:cNvSpPr/>
          <p:nvPr/>
        </p:nvSpPr>
        <p:spPr>
          <a:xfrm>
            <a:off x="6336792" y="1709928"/>
            <a:ext cx="4745736" cy="37307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Alfa:</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Vollediger RSVP en </a:t>
            </a:r>
            <a:r>
              <a:rPr lang="en-US" sz="1240">
                <a:solidFill>
                  <a:srgbClr val="C8D1DE"/>
                </a:solidFill>
              </a:rPr>
              <a:t>paneelbord</a:t>
            </a:r>
            <a:r>
              <a:rPr lang="en-US" sz="1240">
                <a:solidFill>
                  <a:srgbClr val="C8D1DE"/>
                </a:solidFill>
                <a:latin typeface="Arial"/>
                <a:ea typeface="Arial"/>
                <a:cs typeface="Arial"/>
                <a:sym typeface="Arial"/>
              </a:rPr>
              <a:t>-funksies</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Meer volledige QR-skandeerdervloei</a:t>
            </a:r>
            <a:endParaRPr sz="124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40"/>
              <a:buFont typeface="Arial"/>
              <a:buNone/>
            </a:pPr>
            <a:r>
              <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Beta/Finaal:</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Toerusting-module</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Kennisgewings</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CSV-uitvoer</a:t>
            </a:r>
            <a:endParaRPr sz="1240">
              <a:solidFill>
                <a:schemeClr val="dk1"/>
              </a:solidFill>
              <a:latin typeface="Arial"/>
              <a:ea typeface="Arial"/>
              <a:cs typeface="Arial"/>
              <a:sym typeface="Arial"/>
            </a:endParaRPr>
          </a:p>
          <a:p>
            <a:pPr indent="0" lvl="0" marL="0" marR="0" rtl="0" algn="l">
              <a:spcBef>
                <a:spcPts val="0"/>
              </a:spcBef>
              <a:spcAft>
                <a:spcPts val="0"/>
              </a:spcAft>
              <a:buClr>
                <a:srgbClr val="C8D1DE"/>
              </a:buClr>
              <a:buSzPts val="1240"/>
              <a:buFont typeface="Arial"/>
              <a:buNone/>
            </a:pPr>
            <a:r>
              <a:rPr lang="en-US" sz="1240">
                <a:solidFill>
                  <a:srgbClr val="C8D1DE"/>
                </a:solidFill>
                <a:latin typeface="Arial"/>
                <a:ea typeface="Arial"/>
                <a:cs typeface="Arial"/>
                <a:sym typeface="Arial"/>
              </a:rPr>
              <a:t>• KI-voorspellings en analise</a:t>
            </a:r>
            <a:endParaRPr sz="1240">
              <a:solidFill>
                <a:schemeClr val="dk1"/>
              </a:solidFill>
              <a:latin typeface="Arial"/>
              <a:ea typeface="Arial"/>
              <a:cs typeface="Arial"/>
              <a:sym typeface="Arial"/>
            </a:endParaRPr>
          </a:p>
        </p:txBody>
      </p:sp>
      <p:sp>
        <p:nvSpPr>
          <p:cNvPr id="331" name="Google Shape;331;p13"/>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332" name="Google Shape;332;p13"/>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B2D"/>
        </a:solidFill>
      </p:bgPr>
    </p:bg>
    <p:spTree>
      <p:nvGrpSpPr>
        <p:cNvPr id="337" name="Shape 337"/>
        <p:cNvGrpSpPr/>
        <p:nvPr/>
      </p:nvGrpSpPr>
      <p:grpSpPr>
        <a:xfrm>
          <a:off x="0" y="0"/>
          <a:ext cx="0" cy="0"/>
          <a:chOff x="0" y="0"/>
          <a:chExt cx="0" cy="0"/>
        </a:xfrm>
      </p:grpSpPr>
      <p:sp>
        <p:nvSpPr>
          <p:cNvPr id="338" name="Google Shape;338;p14"/>
          <p:cNvSpPr/>
          <p:nvPr/>
        </p:nvSpPr>
        <p:spPr>
          <a:xfrm>
            <a:off x="0" y="0"/>
            <a:ext cx="12191695" cy="6858000"/>
          </a:xfrm>
          <a:prstGeom prst="rect">
            <a:avLst/>
          </a:prstGeom>
          <a:solidFill>
            <a:srgbClr val="101B2D"/>
          </a:solidFill>
          <a:ln cap="flat" cmpd="sng" w="12700">
            <a:solidFill>
              <a:srgbClr val="101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p:nvPr/>
        </p:nvSpPr>
        <p:spPr>
          <a:xfrm>
            <a:off x="0" y="0"/>
            <a:ext cx="146304" cy="6858000"/>
          </a:xfrm>
          <a:prstGeom prst="rect">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
          <p:cNvSpPr/>
          <p:nvPr/>
        </p:nvSpPr>
        <p:spPr>
          <a:xfrm>
            <a:off x="512064" y="320040"/>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100"/>
              <a:buFont typeface="Play"/>
              <a:buNone/>
            </a:pPr>
            <a:r>
              <a:rPr b="1" lang="en-US" sz="1100">
                <a:solidFill>
                  <a:srgbClr val="0070C0"/>
                </a:solidFill>
                <a:latin typeface="Play"/>
                <a:ea typeface="Play"/>
                <a:cs typeface="Play"/>
                <a:sym typeface="Play"/>
              </a:rPr>
              <a:t>13 / OPSOMMING</a:t>
            </a:r>
            <a:endParaRPr sz="1100">
              <a:solidFill>
                <a:srgbClr val="0070C0"/>
              </a:solidFill>
              <a:latin typeface="Arial"/>
              <a:ea typeface="Arial"/>
              <a:cs typeface="Arial"/>
              <a:sym typeface="Arial"/>
            </a:endParaRPr>
          </a:p>
        </p:txBody>
      </p:sp>
      <p:sp>
        <p:nvSpPr>
          <p:cNvPr id="341" name="Google Shape;341;p14"/>
          <p:cNvSpPr/>
          <p:nvPr/>
        </p:nvSpPr>
        <p:spPr>
          <a:xfrm>
            <a:off x="512064" y="658368"/>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lay"/>
              <a:buNone/>
            </a:pPr>
            <a:r>
              <a:rPr b="1" lang="en-US" sz="1900">
                <a:solidFill>
                  <a:srgbClr val="FFFFFF"/>
                </a:solidFill>
                <a:latin typeface="Play"/>
                <a:ea typeface="Play"/>
                <a:cs typeface="Play"/>
                <a:sym typeface="Play"/>
              </a:rPr>
              <a:t>Pre-Alfa bewys dat die kernargitektuur werk</a:t>
            </a:r>
            <a:endParaRPr sz="1900">
              <a:solidFill>
                <a:schemeClr val="dk1"/>
              </a:solidFill>
              <a:latin typeface="Arial"/>
              <a:ea typeface="Arial"/>
              <a:cs typeface="Arial"/>
              <a:sym typeface="Arial"/>
            </a:endParaRPr>
          </a:p>
        </p:txBody>
      </p:sp>
      <p:sp>
        <p:nvSpPr>
          <p:cNvPr id="342" name="Google Shape;342;p14"/>
          <p:cNvSpPr/>
          <p:nvPr/>
        </p:nvSpPr>
        <p:spPr>
          <a:xfrm>
            <a:off x="777240" y="132588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786765" y="148323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01</a:t>
            </a:r>
            <a:endParaRPr sz="1000">
              <a:solidFill>
                <a:schemeClr val="dk1"/>
              </a:solidFill>
              <a:latin typeface="Arial"/>
              <a:ea typeface="Arial"/>
              <a:cs typeface="Arial"/>
              <a:sym typeface="Arial"/>
            </a:endParaRPr>
          </a:p>
        </p:txBody>
      </p:sp>
      <p:sp>
        <p:nvSpPr>
          <p:cNvPr id="344" name="Google Shape;344;p14"/>
          <p:cNvSpPr/>
          <p:nvPr/>
        </p:nvSpPr>
        <p:spPr>
          <a:xfrm>
            <a:off x="1325880" y="1298448"/>
            <a:ext cx="288036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1490472" y="141732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Probleem</a:t>
            </a:r>
            <a:endParaRPr sz="1200">
              <a:solidFill>
                <a:srgbClr val="0070C0"/>
              </a:solidFill>
              <a:latin typeface="Arial"/>
              <a:ea typeface="Arial"/>
              <a:cs typeface="Arial"/>
              <a:sym typeface="Arial"/>
            </a:endParaRPr>
          </a:p>
        </p:txBody>
      </p:sp>
      <p:sp>
        <p:nvSpPr>
          <p:cNvPr id="346" name="Google Shape;346;p14"/>
          <p:cNvSpPr/>
          <p:nvPr/>
        </p:nvSpPr>
        <p:spPr>
          <a:xfrm>
            <a:off x="1490472" y="1773936"/>
            <a:ext cx="255117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60"/>
              <a:buFont typeface="Arial"/>
              <a:buNone/>
            </a:pPr>
            <a:r>
              <a:rPr lang="en-US" sz="1060">
                <a:solidFill>
                  <a:srgbClr val="C8D1DE"/>
                </a:solidFill>
                <a:latin typeface="Arial"/>
                <a:ea typeface="Arial"/>
                <a:cs typeface="Arial"/>
                <a:sym typeface="Arial"/>
              </a:rPr>
              <a:t>Handmatige funksiebestuur benodig ’n geïntegreerde digitale oplossing.</a:t>
            </a:r>
            <a:endParaRPr sz="1060">
              <a:solidFill>
                <a:schemeClr val="dk1"/>
              </a:solidFill>
              <a:latin typeface="Arial"/>
              <a:ea typeface="Arial"/>
              <a:cs typeface="Arial"/>
              <a:sym typeface="Arial"/>
            </a:endParaRPr>
          </a:p>
        </p:txBody>
      </p:sp>
      <p:sp>
        <p:nvSpPr>
          <p:cNvPr id="347" name="Google Shape;347;p14"/>
          <p:cNvSpPr/>
          <p:nvPr/>
        </p:nvSpPr>
        <p:spPr>
          <a:xfrm>
            <a:off x="4507992" y="132588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4"/>
          <p:cNvSpPr/>
          <p:nvPr/>
        </p:nvSpPr>
        <p:spPr>
          <a:xfrm>
            <a:off x="4517517" y="148323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02</a:t>
            </a:r>
            <a:endParaRPr sz="1000">
              <a:solidFill>
                <a:schemeClr val="dk1"/>
              </a:solidFill>
              <a:latin typeface="Arial"/>
              <a:ea typeface="Arial"/>
              <a:cs typeface="Arial"/>
              <a:sym typeface="Arial"/>
            </a:endParaRPr>
          </a:p>
        </p:txBody>
      </p:sp>
      <p:sp>
        <p:nvSpPr>
          <p:cNvPr id="349" name="Google Shape;349;p14"/>
          <p:cNvSpPr/>
          <p:nvPr/>
        </p:nvSpPr>
        <p:spPr>
          <a:xfrm>
            <a:off x="5056632" y="1298448"/>
            <a:ext cx="288036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4"/>
          <p:cNvSpPr/>
          <p:nvPr/>
        </p:nvSpPr>
        <p:spPr>
          <a:xfrm>
            <a:off x="5221224" y="141732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Kernfunksie</a:t>
            </a:r>
            <a:endParaRPr sz="1200">
              <a:solidFill>
                <a:srgbClr val="0070C0"/>
              </a:solidFill>
              <a:latin typeface="Arial"/>
              <a:ea typeface="Arial"/>
              <a:cs typeface="Arial"/>
              <a:sym typeface="Arial"/>
            </a:endParaRPr>
          </a:p>
        </p:txBody>
      </p:sp>
      <p:sp>
        <p:nvSpPr>
          <p:cNvPr id="351" name="Google Shape;351;p14"/>
          <p:cNvSpPr/>
          <p:nvPr/>
        </p:nvSpPr>
        <p:spPr>
          <a:xfrm>
            <a:off x="5221224" y="1773936"/>
            <a:ext cx="255117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60"/>
              <a:buFont typeface="Arial"/>
              <a:buNone/>
            </a:pPr>
            <a:r>
              <a:rPr lang="en-US" sz="1060">
                <a:solidFill>
                  <a:srgbClr val="C8D1DE"/>
                </a:solidFill>
                <a:latin typeface="Arial"/>
                <a:ea typeface="Arial"/>
                <a:cs typeface="Arial"/>
                <a:sym typeface="Arial"/>
              </a:rPr>
              <a:t>Gebruiker/funksie/QR-vloei word as Pre-Alfa bewys gedemonstreer.</a:t>
            </a:r>
            <a:endParaRPr sz="1060">
              <a:solidFill>
                <a:schemeClr val="dk1"/>
              </a:solidFill>
              <a:latin typeface="Arial"/>
              <a:ea typeface="Arial"/>
              <a:cs typeface="Arial"/>
              <a:sym typeface="Arial"/>
            </a:endParaRPr>
          </a:p>
        </p:txBody>
      </p:sp>
      <p:sp>
        <p:nvSpPr>
          <p:cNvPr id="352" name="Google Shape;352;p14"/>
          <p:cNvSpPr/>
          <p:nvPr/>
        </p:nvSpPr>
        <p:spPr>
          <a:xfrm>
            <a:off x="8238744" y="132588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4"/>
          <p:cNvSpPr/>
          <p:nvPr/>
        </p:nvSpPr>
        <p:spPr>
          <a:xfrm>
            <a:off x="8248269" y="148323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03</a:t>
            </a:r>
            <a:endParaRPr sz="1000">
              <a:solidFill>
                <a:schemeClr val="dk1"/>
              </a:solidFill>
              <a:latin typeface="Arial"/>
              <a:ea typeface="Arial"/>
              <a:cs typeface="Arial"/>
              <a:sym typeface="Arial"/>
            </a:endParaRPr>
          </a:p>
        </p:txBody>
      </p:sp>
      <p:sp>
        <p:nvSpPr>
          <p:cNvPr id="354" name="Google Shape;354;p14"/>
          <p:cNvSpPr/>
          <p:nvPr/>
        </p:nvSpPr>
        <p:spPr>
          <a:xfrm>
            <a:off x="8787384" y="1298448"/>
            <a:ext cx="288036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4"/>
          <p:cNvSpPr/>
          <p:nvPr/>
        </p:nvSpPr>
        <p:spPr>
          <a:xfrm>
            <a:off x="8951976" y="141732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Integrasie</a:t>
            </a:r>
            <a:endParaRPr sz="1200">
              <a:solidFill>
                <a:srgbClr val="0070C0"/>
              </a:solidFill>
              <a:latin typeface="Arial"/>
              <a:ea typeface="Arial"/>
              <a:cs typeface="Arial"/>
              <a:sym typeface="Arial"/>
            </a:endParaRPr>
          </a:p>
        </p:txBody>
      </p:sp>
      <p:sp>
        <p:nvSpPr>
          <p:cNvPr id="356" name="Google Shape;356;p14"/>
          <p:cNvSpPr/>
          <p:nvPr/>
        </p:nvSpPr>
        <p:spPr>
          <a:xfrm>
            <a:off x="8951976" y="1773936"/>
            <a:ext cx="255117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60"/>
              <a:buFont typeface="Arial"/>
              <a:buNone/>
            </a:pPr>
            <a:r>
              <a:rPr lang="en-US" sz="1060">
                <a:solidFill>
                  <a:srgbClr val="C8D1DE"/>
                </a:solidFill>
                <a:latin typeface="Arial"/>
                <a:ea typeface="Arial"/>
                <a:cs typeface="Arial"/>
                <a:sym typeface="Arial"/>
              </a:rPr>
              <a:t>Web en Mobile gebruik dieselfde WebAPI en databasis.</a:t>
            </a:r>
            <a:endParaRPr sz="1060">
              <a:solidFill>
                <a:schemeClr val="dk1"/>
              </a:solidFill>
              <a:latin typeface="Arial"/>
              <a:ea typeface="Arial"/>
              <a:cs typeface="Arial"/>
              <a:sym typeface="Arial"/>
            </a:endParaRPr>
          </a:p>
        </p:txBody>
      </p:sp>
      <p:sp>
        <p:nvSpPr>
          <p:cNvPr id="357" name="Google Shape;357;p14"/>
          <p:cNvSpPr/>
          <p:nvPr/>
        </p:nvSpPr>
        <p:spPr>
          <a:xfrm>
            <a:off x="777240" y="333756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4"/>
          <p:cNvSpPr/>
          <p:nvPr/>
        </p:nvSpPr>
        <p:spPr>
          <a:xfrm>
            <a:off x="786765" y="349491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04</a:t>
            </a:r>
            <a:endParaRPr sz="1000">
              <a:solidFill>
                <a:schemeClr val="dk1"/>
              </a:solidFill>
              <a:latin typeface="Arial"/>
              <a:ea typeface="Arial"/>
              <a:cs typeface="Arial"/>
              <a:sym typeface="Arial"/>
            </a:endParaRPr>
          </a:p>
        </p:txBody>
      </p:sp>
      <p:sp>
        <p:nvSpPr>
          <p:cNvPr id="359" name="Google Shape;359;p14"/>
          <p:cNvSpPr/>
          <p:nvPr/>
        </p:nvSpPr>
        <p:spPr>
          <a:xfrm>
            <a:off x="1325880" y="3310128"/>
            <a:ext cx="288036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1490472" y="342900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Scenario’s</a:t>
            </a:r>
            <a:endParaRPr sz="1200">
              <a:solidFill>
                <a:srgbClr val="0070C0"/>
              </a:solidFill>
              <a:latin typeface="Arial"/>
              <a:ea typeface="Arial"/>
              <a:cs typeface="Arial"/>
              <a:sym typeface="Arial"/>
            </a:endParaRPr>
          </a:p>
        </p:txBody>
      </p:sp>
      <p:sp>
        <p:nvSpPr>
          <p:cNvPr id="361" name="Google Shape;361;p14"/>
          <p:cNvSpPr/>
          <p:nvPr/>
        </p:nvSpPr>
        <p:spPr>
          <a:xfrm>
            <a:off x="1490472" y="3785616"/>
            <a:ext cx="255117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60"/>
              <a:buFont typeface="Arial"/>
              <a:buNone/>
            </a:pPr>
            <a:r>
              <a:rPr lang="en-US" sz="1060">
                <a:solidFill>
                  <a:srgbClr val="C8D1DE"/>
                </a:solidFill>
                <a:latin typeface="Arial"/>
                <a:ea typeface="Arial"/>
                <a:cs typeface="Arial"/>
                <a:sym typeface="Arial"/>
              </a:rPr>
              <a:t>Beste, slegste en alternatiewe gevalle word getoets.</a:t>
            </a:r>
            <a:endParaRPr sz="1060">
              <a:solidFill>
                <a:schemeClr val="dk1"/>
              </a:solidFill>
              <a:latin typeface="Arial"/>
              <a:ea typeface="Arial"/>
              <a:cs typeface="Arial"/>
              <a:sym typeface="Arial"/>
            </a:endParaRPr>
          </a:p>
        </p:txBody>
      </p:sp>
      <p:sp>
        <p:nvSpPr>
          <p:cNvPr id="362" name="Google Shape;362;p14"/>
          <p:cNvSpPr/>
          <p:nvPr/>
        </p:nvSpPr>
        <p:spPr>
          <a:xfrm>
            <a:off x="4507992" y="3337560"/>
            <a:ext cx="411480" cy="411480"/>
          </a:xfrm>
          <a:prstGeom prst="ellipse">
            <a:avLst/>
          </a:prstGeom>
          <a:solidFill>
            <a:srgbClr val="0070C0"/>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4517517" y="3494913"/>
            <a:ext cx="41148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B2D"/>
              </a:buClr>
              <a:buSzPts val="1000"/>
              <a:buFont typeface="Arial"/>
              <a:buNone/>
            </a:pPr>
            <a:r>
              <a:rPr b="1" lang="en-US" sz="1000">
                <a:solidFill>
                  <a:srgbClr val="101B2D"/>
                </a:solidFill>
                <a:latin typeface="Arial"/>
                <a:ea typeface="Arial"/>
                <a:cs typeface="Arial"/>
                <a:sym typeface="Arial"/>
              </a:rPr>
              <a:t>05</a:t>
            </a:r>
            <a:endParaRPr sz="1000">
              <a:solidFill>
                <a:schemeClr val="dk1"/>
              </a:solidFill>
              <a:latin typeface="Arial"/>
              <a:ea typeface="Arial"/>
              <a:cs typeface="Arial"/>
              <a:sym typeface="Arial"/>
            </a:endParaRPr>
          </a:p>
        </p:txBody>
      </p:sp>
      <p:sp>
        <p:nvSpPr>
          <p:cNvPr id="364" name="Google Shape;364;p14"/>
          <p:cNvSpPr/>
          <p:nvPr/>
        </p:nvSpPr>
        <p:spPr>
          <a:xfrm>
            <a:off x="5056632" y="3310128"/>
            <a:ext cx="2880360" cy="1143000"/>
          </a:xfrm>
          <a:prstGeom prst="roundRect">
            <a:avLst>
              <a:gd fmla="val 6400" name="adj"/>
            </a:avLst>
          </a:prstGeom>
          <a:solidFill>
            <a:srgbClr val="16243A"/>
          </a:solidFill>
          <a:ln cap="flat" cmpd="sng" w="12700">
            <a:solidFill>
              <a:srgbClr val="2B3C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5221224" y="3429000"/>
            <a:ext cx="2551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C0"/>
              </a:buClr>
              <a:buSzPts val="1200"/>
              <a:buFont typeface="Play"/>
              <a:buNone/>
            </a:pPr>
            <a:r>
              <a:rPr b="1" lang="en-US" sz="1200">
                <a:solidFill>
                  <a:srgbClr val="0070C0"/>
                </a:solidFill>
                <a:latin typeface="Play"/>
                <a:ea typeface="Play"/>
                <a:cs typeface="Play"/>
                <a:sym typeface="Play"/>
              </a:rPr>
              <a:t>Volgende stap</a:t>
            </a:r>
            <a:endParaRPr sz="1200">
              <a:solidFill>
                <a:srgbClr val="0070C0"/>
              </a:solidFill>
              <a:latin typeface="Arial"/>
              <a:ea typeface="Arial"/>
              <a:cs typeface="Arial"/>
              <a:sym typeface="Arial"/>
            </a:endParaRPr>
          </a:p>
        </p:txBody>
      </p:sp>
      <p:sp>
        <p:nvSpPr>
          <p:cNvPr id="366" name="Google Shape;366;p14"/>
          <p:cNvSpPr/>
          <p:nvPr/>
        </p:nvSpPr>
        <p:spPr>
          <a:xfrm>
            <a:off x="5221224" y="3785616"/>
            <a:ext cx="2551176" cy="5760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C8D1DE"/>
              </a:buClr>
              <a:buSzPts val="1060"/>
              <a:buFont typeface="Arial"/>
              <a:buNone/>
            </a:pPr>
            <a:r>
              <a:rPr lang="en-US" sz="1060">
                <a:solidFill>
                  <a:srgbClr val="C8D1DE"/>
                </a:solidFill>
                <a:latin typeface="Arial"/>
                <a:ea typeface="Arial"/>
                <a:cs typeface="Arial"/>
                <a:sym typeface="Arial"/>
              </a:rPr>
              <a:t>Uitbreiding na volledige Alfa-funksies en verdere modules.</a:t>
            </a:r>
            <a:endParaRPr sz="1060">
              <a:solidFill>
                <a:schemeClr val="dk1"/>
              </a:solidFill>
              <a:latin typeface="Arial"/>
              <a:ea typeface="Arial"/>
              <a:cs typeface="Arial"/>
              <a:sym typeface="Arial"/>
            </a:endParaRPr>
          </a:p>
        </p:txBody>
      </p:sp>
      <p:sp>
        <p:nvSpPr>
          <p:cNvPr id="367" name="Google Shape;367;p14"/>
          <p:cNvSpPr/>
          <p:nvPr/>
        </p:nvSpPr>
        <p:spPr>
          <a:xfrm>
            <a:off x="4251960" y="5623560"/>
            <a:ext cx="3657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C0"/>
              </a:buClr>
              <a:buSzPts val="2800"/>
              <a:buFont typeface="Play"/>
              <a:buNone/>
            </a:pPr>
            <a:r>
              <a:rPr b="1" lang="en-US" sz="2800">
                <a:solidFill>
                  <a:srgbClr val="0070C0"/>
                </a:solidFill>
                <a:latin typeface="Play"/>
                <a:ea typeface="Play"/>
                <a:cs typeface="Play"/>
                <a:sym typeface="Play"/>
              </a:rPr>
              <a:t>Vrae?</a:t>
            </a:r>
            <a:endParaRPr sz="2800">
              <a:solidFill>
                <a:srgbClr val="0070C0"/>
              </a:solidFill>
              <a:latin typeface="Arial"/>
              <a:ea typeface="Arial"/>
              <a:cs typeface="Arial"/>
              <a:sym typeface="Arial"/>
            </a:endParaRPr>
          </a:p>
        </p:txBody>
      </p:sp>
      <p:sp>
        <p:nvSpPr>
          <p:cNvPr id="368" name="Google Shape;368;p14"/>
          <p:cNvSpPr/>
          <p:nvPr/>
        </p:nvSpPr>
        <p:spPr>
          <a:xfrm>
            <a:off x="438912" y="6510528"/>
            <a:ext cx="7040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3B8"/>
              </a:buClr>
              <a:buSzPts val="760"/>
              <a:buFont typeface="Arial"/>
              <a:buNone/>
            </a:pPr>
            <a:r>
              <a:rPr lang="en-US" sz="760">
                <a:solidFill>
                  <a:srgbClr val="91A3B8"/>
                </a:solidFill>
                <a:latin typeface="Arial"/>
                <a:ea typeface="Arial"/>
                <a:cs typeface="Arial"/>
                <a:sym typeface="Arial"/>
              </a:rPr>
              <a:t>404 Sluitsteen span · DA6 Pre-Alfa · 2026</a:t>
            </a:r>
            <a:endParaRPr sz="760">
              <a:solidFill>
                <a:schemeClr val="dk1"/>
              </a:solidFill>
              <a:latin typeface="Arial"/>
              <a:ea typeface="Arial"/>
              <a:cs typeface="Arial"/>
              <a:sym typeface="Arial"/>
            </a:endParaRPr>
          </a:p>
        </p:txBody>
      </p:sp>
      <p:cxnSp>
        <p:nvCxnSpPr>
          <p:cNvPr id="369" name="Google Shape;369;p14"/>
          <p:cNvCxnSpPr/>
          <p:nvPr/>
        </p:nvCxnSpPr>
        <p:spPr>
          <a:xfrm>
            <a:off x="438912" y="6382512"/>
            <a:ext cx="11247120" cy="0"/>
          </a:xfrm>
          <a:prstGeom prst="straightConnector1">
            <a:avLst/>
          </a:prstGeom>
          <a:noFill/>
          <a:ln cap="flat" cmpd="sng" w="12700">
            <a:solidFill>
              <a:srgbClr val="2B3C55">
                <a:alpha val="90196"/>
              </a:srgbClr>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2026-05-09T13:52:41Z</dcterms:created>
  <dc:creator>Span 404</dc:creator>
</cp:coreProperties>
</file>
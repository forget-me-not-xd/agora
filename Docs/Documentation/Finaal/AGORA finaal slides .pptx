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Skakel oor na die lewendige stelsel. Hou hierdie skyfie oop tot die skerm gedeel is.</a:t>
            </a:r>
            <a:endParaRPr/>
          </a:p>
        </p:txBody>
      </p:sp>
      <p:sp>
        <p:nvSpPr>
          <p:cNvPr id="132" name="Google Shape;13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2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132C4F"/>
          </a:solidFill>
          <a:ln cap="flat" cmpd="sng" w="12700">
            <a:solidFill>
              <a:srgbClr val="132C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149840" y="4206240"/>
            <a:ext cx="3108960" cy="3108960"/>
          </a:xfrm>
          <a:prstGeom prst="ellipse">
            <a:avLst/>
          </a:prstGeom>
          <a:solidFill>
            <a:srgbClr val="0F2440"/>
          </a:solidFill>
          <a:ln cap="flat" cmpd="sng" w="12700">
            <a:solidFill>
              <a:srgbClr val="0F2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9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AKADEMIA  ·  SPAN 4 - 404  ·  </a:t>
            </a:r>
            <a:r>
              <a:rPr b="1" lang="en-US" sz="1200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BETA</a:t>
            </a:r>
            <a:r>
              <a:rPr b="1" i="0" lang="en-US" sz="1200" u="none" cap="none" strike="noStrike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-DEMONSTRASIE</a:t>
            </a:r>
            <a:endParaRPr b="0" i="0" sz="1200" u="none" cap="none" strike="noStrike">
              <a:solidFill>
                <a:srgbClr val="52BD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77250" y="731550"/>
            <a:ext cx="8412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AGORA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77245" y="1904050"/>
            <a:ext cx="405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6A"/>
              </a:buClr>
              <a:buSzPts val="2400"/>
              <a:buFont typeface="Calibri"/>
              <a:buNone/>
            </a:pPr>
            <a:r>
              <a:rPr lang="en-US" sz="2100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Vergarder, Beplan, Verbind</a:t>
            </a:r>
            <a:endParaRPr b="0" i="0" sz="2100" u="none" cap="none" strike="noStrike">
              <a:solidFill>
                <a:srgbClr val="52BD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77240" y="6116525"/>
            <a:ext cx="265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AANBIEDING DEUR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77240" y="6390845"/>
            <a:ext cx="265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Span 4 - 404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304295" y="6116588"/>
            <a:ext cx="265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FASE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304295" y="6390845"/>
            <a:ext cx="265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Beta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77250" y="1878250"/>
            <a:ext cx="2835000" cy="25800"/>
          </a:xfrm>
          <a:prstGeom prst="rect">
            <a:avLst/>
          </a:prstGeom>
          <a:solidFill>
            <a:srgbClr val="52BDF2"/>
          </a:solidFill>
          <a:ln cap="flat" cmpd="sng" w="9525">
            <a:solidFill>
              <a:srgbClr val="52B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777440" y="2424908"/>
            <a:ext cx="1063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Wie is in ons span 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77440" y="5202598"/>
            <a:ext cx="265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Geandr</a:t>
            </a:r>
            <a:r>
              <a:rPr b="1" lang="en-US" sz="1800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é</a:t>
            </a:r>
            <a:r>
              <a:rPr b="1" i="0" lang="en-US" sz="18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 du Preez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777440" y="5595790"/>
            <a:ext cx="265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9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SPAN LEIER</a:t>
            </a:r>
            <a:endParaRPr b="0" i="0" sz="1100" u="none" cap="none" strike="noStrike">
              <a:solidFill>
                <a:srgbClr val="52BD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436744" y="5202598"/>
            <a:ext cx="265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Marcel Gous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436744" y="5595790"/>
            <a:ext cx="265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9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ONTWIKKELAAR</a:t>
            </a:r>
            <a:endParaRPr b="0" i="0" sz="1100" u="none" cap="none" strike="noStrike">
              <a:solidFill>
                <a:srgbClr val="52BD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096048" y="5202598"/>
            <a:ext cx="265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Zuandré Appelo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096048" y="5595790"/>
            <a:ext cx="265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9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ONTWIKKELAAR</a:t>
            </a:r>
            <a:endParaRPr b="0" i="0" sz="1100" u="none" cap="none" strike="noStrike">
              <a:solidFill>
                <a:srgbClr val="52BD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755351" y="5202598"/>
            <a:ext cx="265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Renier Harmse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755351" y="5595790"/>
            <a:ext cx="265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9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ONTWIKKELAAR</a:t>
            </a:r>
            <a:endParaRPr b="0" i="0" sz="1100" u="none" cap="none" strike="noStrike">
              <a:solidFill>
                <a:srgbClr val="52BD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3" title="20260226-2.jpg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838" y="3264211"/>
            <a:ext cx="1876398" cy="1876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" title="20260226-6.jpg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8163" y="3264213"/>
            <a:ext cx="1876372" cy="187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" title="20260226-10.jpg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87475" y="3209275"/>
            <a:ext cx="1876352" cy="1876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" title="20260226-11.jpg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46775" y="3209263"/>
            <a:ext cx="1876352" cy="1876352"/>
          </a:xfrm>
          <a:prstGeom prst="rect">
            <a:avLst/>
          </a:prstGeom>
          <a:solidFill>
            <a:srgbClr val="13294A"/>
          </a:solidFill>
          <a:ln>
            <a:noFill/>
          </a:ln>
        </p:spPr>
      </p:pic>
      <p:pic>
        <p:nvPicPr>
          <p:cNvPr id="39" name="Google Shape;39;p3" title="404_logo_transparen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31750" y="442081"/>
            <a:ext cx="2867098" cy="1651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 title="agora-icon-dark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06130" y="2011650"/>
            <a:ext cx="4118351" cy="470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/>
          <p:nvPr/>
        </p:nvSpPr>
        <p:spPr>
          <a:xfrm>
            <a:off x="-1029360" y="2331735"/>
            <a:ext cx="5120700" cy="5120700"/>
          </a:xfrm>
          <a:prstGeom prst="ellipse">
            <a:avLst/>
          </a:prstGeom>
          <a:solidFill>
            <a:srgbClr val="1D3A63"/>
          </a:solidFill>
          <a:ln cap="flat" cmpd="sng" w="12700">
            <a:solidFill>
              <a:srgbClr val="0F2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8034240" y="-960165"/>
            <a:ext cx="5120700" cy="5120700"/>
          </a:xfrm>
          <a:prstGeom prst="ellipse">
            <a:avLst/>
          </a:prstGeom>
          <a:solidFill>
            <a:srgbClr val="1D3A63"/>
          </a:solidFill>
          <a:ln cap="flat" cmpd="sng" w="12700">
            <a:solidFill>
              <a:srgbClr val="0F2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9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DIE PROBLEEM</a:t>
            </a:r>
            <a:endParaRPr b="0" i="0" sz="1200" u="none" cap="none" strike="noStrike">
              <a:solidFill>
                <a:srgbClr val="52BD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777240" y="960120"/>
            <a:ext cx="106372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Niemand besit die geleentheid nie.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77240" y="1783080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Elke geleentheid word oor los Excel-lêers, e-posse en papierlyste versprei </a:t>
            </a:r>
            <a:r>
              <a:rPr lang="en-US" sz="1500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5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 daar is geen enkele, lewende weergawe van die waarheid nie.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777240" y="2606040"/>
            <a:ext cx="3332378" cy="1554480"/>
          </a:xfrm>
          <a:prstGeom prst="roundRect">
            <a:avLst>
              <a:gd fmla="val 2353" name="adj"/>
            </a:avLst>
          </a:prstGeom>
          <a:solidFill>
            <a:srgbClr val="13294A"/>
          </a:solidFill>
          <a:ln cap="flat" cmpd="sng" w="9525">
            <a:solidFill>
              <a:srgbClr val="1D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52BDF2"/>
          </a:solidFill>
          <a:ln cap="flat" cmpd="sng" w="12700">
            <a:solidFill>
              <a:srgbClr val="52B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325880" y="2807208"/>
            <a:ext cx="250941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Data is altyd histories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069848" y="3246120"/>
            <a:ext cx="274716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Die syfer waarteen beplan word, is die syfer wat laas ingetik is.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429658" y="2606040"/>
            <a:ext cx="3332378" cy="1554480"/>
          </a:xfrm>
          <a:prstGeom prst="roundRect">
            <a:avLst>
              <a:gd fmla="val 2353" name="adj"/>
            </a:avLst>
          </a:prstGeom>
          <a:solidFill>
            <a:srgbClr val="13294A"/>
          </a:solidFill>
          <a:ln cap="flat" cmpd="sng" w="9525">
            <a:solidFill>
              <a:srgbClr val="1D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722266" y="2898648"/>
            <a:ext cx="118872" cy="118872"/>
          </a:xfrm>
          <a:prstGeom prst="ellipse">
            <a:avLst/>
          </a:prstGeom>
          <a:solidFill>
            <a:srgbClr val="52BDF2"/>
          </a:solidFill>
          <a:ln cap="flat" cmpd="sng" w="12700">
            <a:solidFill>
              <a:srgbClr val="52B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978298" y="2807208"/>
            <a:ext cx="250941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Geen terugvoerlus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722266" y="3246120"/>
            <a:ext cx="274716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Elke vorige geleentheid se data gaan verlore in 'n ou lêer.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8082077" y="2606040"/>
            <a:ext cx="3332378" cy="1554480"/>
          </a:xfrm>
          <a:prstGeom prst="roundRect">
            <a:avLst>
              <a:gd fmla="val 2353" name="adj"/>
            </a:avLst>
          </a:prstGeom>
          <a:solidFill>
            <a:srgbClr val="13294A"/>
          </a:solidFill>
          <a:ln cap="flat" cmpd="sng" w="9525">
            <a:solidFill>
              <a:srgbClr val="1D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8374685" y="2898648"/>
            <a:ext cx="118872" cy="118872"/>
          </a:xfrm>
          <a:prstGeom prst="ellipse">
            <a:avLst/>
          </a:prstGeom>
          <a:solidFill>
            <a:srgbClr val="52BDF2"/>
          </a:solidFill>
          <a:ln cap="flat" cmpd="sng" w="12700">
            <a:solidFill>
              <a:srgbClr val="52B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8630717" y="2807208"/>
            <a:ext cx="250941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Koördinasie kos ure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8374685" y="3246120"/>
            <a:ext cx="274716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Akademie, spyseniering, plek en dosente hou elkeen 'n fragment.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777240" y="4434840"/>
            <a:ext cx="3332378" cy="1554480"/>
          </a:xfrm>
          <a:prstGeom prst="roundRect">
            <a:avLst>
              <a:gd fmla="val 2353" name="adj"/>
            </a:avLst>
          </a:prstGeom>
          <a:solidFill>
            <a:srgbClr val="13294A"/>
          </a:solidFill>
          <a:ln cap="flat" cmpd="sng" w="9525">
            <a:solidFill>
              <a:srgbClr val="1D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069848" y="4727448"/>
            <a:ext cx="118872" cy="118872"/>
          </a:xfrm>
          <a:prstGeom prst="ellipse">
            <a:avLst/>
          </a:prstGeom>
          <a:solidFill>
            <a:srgbClr val="52BDF2"/>
          </a:solidFill>
          <a:ln cap="flat" cmpd="sng" w="12700">
            <a:solidFill>
              <a:srgbClr val="52B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1325880" y="4636008"/>
            <a:ext cx="250941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Foute vermenigvuldig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69848" y="5074920"/>
            <a:ext cx="274716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Oortik, dupliseer, en niemand weet watter weergawe geld nie.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429658" y="4434840"/>
            <a:ext cx="3332378" cy="1554480"/>
          </a:xfrm>
          <a:prstGeom prst="roundRect">
            <a:avLst>
              <a:gd fmla="val 2353" name="adj"/>
            </a:avLst>
          </a:prstGeom>
          <a:solidFill>
            <a:srgbClr val="13294A"/>
          </a:solidFill>
          <a:ln cap="flat" cmpd="sng" w="9525">
            <a:solidFill>
              <a:srgbClr val="1D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4722266" y="4727448"/>
            <a:ext cx="118872" cy="118872"/>
          </a:xfrm>
          <a:prstGeom prst="ellipse">
            <a:avLst/>
          </a:prstGeom>
          <a:solidFill>
            <a:srgbClr val="52BDF2"/>
          </a:solidFill>
          <a:ln cap="flat" cmpd="sng" w="12700">
            <a:solidFill>
              <a:srgbClr val="52B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978298" y="4636008"/>
            <a:ext cx="250941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Skaal nie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722266" y="5074920"/>
            <a:ext cx="274716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Die tiende geleentheid kos dieselfde ure as die eerste.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082077" y="4434840"/>
            <a:ext cx="3332378" cy="1554480"/>
          </a:xfrm>
          <a:prstGeom prst="roundRect">
            <a:avLst>
              <a:gd fmla="val 2353" name="adj"/>
            </a:avLst>
          </a:prstGeom>
          <a:solidFill>
            <a:srgbClr val="13294A"/>
          </a:solidFill>
          <a:ln cap="flat" cmpd="sng" w="9525">
            <a:solidFill>
              <a:srgbClr val="1D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8374685" y="4727448"/>
            <a:ext cx="118872" cy="118872"/>
          </a:xfrm>
          <a:prstGeom prst="ellipse">
            <a:avLst/>
          </a:prstGeom>
          <a:solidFill>
            <a:srgbClr val="52BDF2"/>
          </a:solidFill>
          <a:ln cap="flat" cmpd="sng" w="12700">
            <a:solidFill>
              <a:srgbClr val="52B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630717" y="4636008"/>
            <a:ext cx="250941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POPIA-risiko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374685" y="5074920"/>
            <a:ext cx="274716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Persoonlike data lê in aanhangsels sonder toegangsbeheer.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77240" y="6263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Akademia  ·  Funksiebestuurstelsel</a:t>
            </a:r>
            <a:r>
              <a:rPr lang="en-US" sz="1000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  ·  Span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671255" y="62636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100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1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  /  0</a:t>
            </a:r>
            <a:r>
              <a:rPr lang="en-US" sz="1100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-1841153" y="2240278"/>
            <a:ext cx="3645600" cy="3645600"/>
          </a:xfrm>
          <a:prstGeom prst="ellipse">
            <a:avLst/>
          </a:prstGeom>
          <a:solidFill>
            <a:srgbClr val="1D3A63"/>
          </a:solidFill>
          <a:ln cap="flat" cmpd="sng" w="12700">
            <a:solidFill>
              <a:srgbClr val="0F2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8283103" y="2415072"/>
            <a:ext cx="6546000" cy="6546000"/>
          </a:xfrm>
          <a:prstGeom prst="ellipse">
            <a:avLst/>
          </a:prstGeom>
          <a:solidFill>
            <a:srgbClr val="1D3A63"/>
          </a:solidFill>
          <a:ln cap="flat" cmpd="sng" w="12700">
            <a:solidFill>
              <a:srgbClr val="0F2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3268265" y="-1856253"/>
            <a:ext cx="5120700" cy="5120700"/>
          </a:xfrm>
          <a:prstGeom prst="ellipse">
            <a:avLst/>
          </a:prstGeom>
          <a:solidFill>
            <a:srgbClr val="1D3A63"/>
          </a:solidFill>
          <a:ln cap="flat" cmpd="sng" w="12700">
            <a:solidFill>
              <a:srgbClr val="0F2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9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ONS OPLOSSING</a:t>
            </a:r>
            <a:endParaRPr b="0" i="0" sz="1200" u="none" cap="none" strike="noStrike">
              <a:solidFill>
                <a:srgbClr val="52BD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777240" y="960120"/>
            <a:ext cx="106372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Agt kernfunksies.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777240" y="2240280"/>
            <a:ext cx="2453564" cy="1600200"/>
          </a:xfrm>
          <a:prstGeom prst="roundRect">
            <a:avLst>
              <a:gd fmla="val 2857" name="adj"/>
            </a:avLst>
          </a:prstGeom>
          <a:solidFill>
            <a:srgbClr val="13294A"/>
          </a:solidFill>
          <a:ln cap="flat" cmpd="sng" w="9525">
            <a:solidFill>
              <a:srgbClr val="1D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1033272" y="2478024"/>
            <a:ext cx="420624" cy="420624"/>
          </a:xfrm>
          <a:prstGeom prst="ellipse">
            <a:avLst/>
          </a:prstGeom>
          <a:solidFill>
            <a:srgbClr val="071426"/>
          </a:solidFill>
          <a:ln cap="flat" cmpd="sng" w="12700">
            <a:solidFill>
              <a:srgbClr val="52B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1033272" y="247802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9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rgbClr val="52BD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033272" y="2990088"/>
            <a:ext cx="1941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Geleentheidskepping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033272" y="3337560"/>
            <a:ext cx="194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Datum, ligging, kapasiteit, begroting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505124" y="2240280"/>
            <a:ext cx="2453564" cy="1600200"/>
          </a:xfrm>
          <a:prstGeom prst="roundRect">
            <a:avLst>
              <a:gd fmla="val 2857" name="adj"/>
            </a:avLst>
          </a:prstGeom>
          <a:solidFill>
            <a:srgbClr val="13294A"/>
          </a:solidFill>
          <a:ln cap="flat" cmpd="sng" w="9525">
            <a:solidFill>
              <a:srgbClr val="1D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3761156" y="2478024"/>
            <a:ext cx="420624" cy="420624"/>
          </a:xfrm>
          <a:prstGeom prst="ellipse">
            <a:avLst/>
          </a:prstGeom>
          <a:solidFill>
            <a:srgbClr val="071426"/>
          </a:solidFill>
          <a:ln cap="flat" cmpd="sng" w="12700">
            <a:solidFill>
              <a:srgbClr val="52B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3761156" y="247802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9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rgbClr val="52BD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761156" y="2990088"/>
            <a:ext cx="1941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RSVP en inklok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761156" y="3337560"/>
            <a:ext cx="194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Registrasie tot by die deur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233008" y="2240280"/>
            <a:ext cx="2453564" cy="1600200"/>
          </a:xfrm>
          <a:prstGeom prst="roundRect">
            <a:avLst>
              <a:gd fmla="val 2857" name="adj"/>
            </a:avLst>
          </a:prstGeom>
          <a:solidFill>
            <a:srgbClr val="13294A"/>
          </a:solidFill>
          <a:ln cap="flat" cmpd="sng" w="9525">
            <a:solidFill>
              <a:srgbClr val="1D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6489040" y="2478024"/>
            <a:ext cx="420624" cy="420624"/>
          </a:xfrm>
          <a:prstGeom prst="ellipse">
            <a:avLst/>
          </a:prstGeom>
          <a:solidFill>
            <a:srgbClr val="071426"/>
          </a:solidFill>
          <a:ln cap="flat" cmpd="sng" w="12700">
            <a:solidFill>
              <a:srgbClr val="52B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6489040" y="247802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9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rgbClr val="52BD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489040" y="2990088"/>
            <a:ext cx="1941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Intydse </a:t>
            </a:r>
            <a:r>
              <a:rPr b="1" lang="en-US" sz="1500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paneelbord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489040" y="3337560"/>
            <a:ext cx="194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Bywoning, begroting, graderings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960891" y="2240280"/>
            <a:ext cx="2453564" cy="1600200"/>
          </a:xfrm>
          <a:prstGeom prst="roundRect">
            <a:avLst>
              <a:gd fmla="val 2857" name="adj"/>
            </a:avLst>
          </a:prstGeom>
          <a:solidFill>
            <a:srgbClr val="13294A"/>
          </a:solidFill>
          <a:ln cap="flat" cmpd="sng" w="9525">
            <a:solidFill>
              <a:srgbClr val="1D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9216923" y="2478024"/>
            <a:ext cx="420624" cy="420624"/>
          </a:xfrm>
          <a:prstGeom prst="ellipse">
            <a:avLst/>
          </a:prstGeom>
          <a:solidFill>
            <a:srgbClr val="071426"/>
          </a:solidFill>
          <a:ln cap="flat" cmpd="sng" w="12700">
            <a:solidFill>
              <a:srgbClr val="52B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9216923" y="247802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9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rgbClr val="52BD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9216923" y="2990088"/>
            <a:ext cx="1941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KI-insigte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9216923" y="3337560"/>
            <a:ext cx="194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LSTM-model voorspel bywoning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777240" y="4160520"/>
            <a:ext cx="2453564" cy="1600200"/>
          </a:xfrm>
          <a:prstGeom prst="roundRect">
            <a:avLst>
              <a:gd fmla="val 2857" name="adj"/>
            </a:avLst>
          </a:prstGeom>
          <a:solidFill>
            <a:srgbClr val="13294A"/>
          </a:solidFill>
          <a:ln cap="flat" cmpd="sng" w="9525">
            <a:solidFill>
              <a:srgbClr val="1D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1033272" y="4398264"/>
            <a:ext cx="420624" cy="420624"/>
          </a:xfrm>
          <a:prstGeom prst="ellipse">
            <a:avLst/>
          </a:prstGeom>
          <a:solidFill>
            <a:srgbClr val="071426"/>
          </a:solidFill>
          <a:ln cap="flat" cmpd="sng" w="12700">
            <a:solidFill>
              <a:srgbClr val="52B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1033272" y="439826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9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rgbClr val="52BD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033272" y="4910328"/>
            <a:ext cx="1941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Begrotingsbestuur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033272" y="5257800"/>
            <a:ext cx="194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Beplan teenoor werklike koste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505124" y="4160520"/>
            <a:ext cx="2453564" cy="1600200"/>
          </a:xfrm>
          <a:prstGeom prst="roundRect">
            <a:avLst>
              <a:gd fmla="val 2857" name="adj"/>
            </a:avLst>
          </a:prstGeom>
          <a:solidFill>
            <a:srgbClr val="13294A"/>
          </a:solidFill>
          <a:ln cap="flat" cmpd="sng" w="9525">
            <a:solidFill>
              <a:srgbClr val="1D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3761156" y="4398264"/>
            <a:ext cx="420624" cy="420624"/>
          </a:xfrm>
          <a:prstGeom prst="ellipse">
            <a:avLst/>
          </a:prstGeom>
          <a:solidFill>
            <a:srgbClr val="071426"/>
          </a:solidFill>
          <a:ln cap="flat" cmpd="sng" w="12700">
            <a:solidFill>
              <a:srgbClr val="52B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3761156" y="439826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9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100" u="none" cap="none" strike="noStrike">
              <a:solidFill>
                <a:srgbClr val="52BD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761156" y="4910328"/>
            <a:ext cx="1941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Kalenderoorsig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761156" y="5257800"/>
            <a:ext cx="194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Alle funksies in een aansig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233008" y="4160520"/>
            <a:ext cx="2453564" cy="1600200"/>
          </a:xfrm>
          <a:prstGeom prst="roundRect">
            <a:avLst>
              <a:gd fmla="val 2857" name="adj"/>
            </a:avLst>
          </a:prstGeom>
          <a:solidFill>
            <a:srgbClr val="13294A"/>
          </a:solidFill>
          <a:ln cap="flat" cmpd="sng" w="9525">
            <a:solidFill>
              <a:srgbClr val="1D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6489040" y="4398264"/>
            <a:ext cx="420624" cy="420624"/>
          </a:xfrm>
          <a:prstGeom prst="ellipse">
            <a:avLst/>
          </a:prstGeom>
          <a:solidFill>
            <a:srgbClr val="071426"/>
          </a:solidFill>
          <a:ln cap="flat" cmpd="sng" w="12700">
            <a:solidFill>
              <a:srgbClr val="52B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6489040" y="439826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9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100" u="none" cap="none" strike="noStrike">
              <a:solidFill>
                <a:srgbClr val="52BD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489040" y="4910328"/>
            <a:ext cx="1941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Gebruikersbestuur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489040" y="5257800"/>
            <a:ext cx="194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Rolle, toegang, admin-beheer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8960891" y="4160520"/>
            <a:ext cx="2453564" cy="1600200"/>
          </a:xfrm>
          <a:prstGeom prst="roundRect">
            <a:avLst>
              <a:gd fmla="val 2857" name="adj"/>
            </a:avLst>
          </a:prstGeom>
          <a:solidFill>
            <a:srgbClr val="13294A"/>
          </a:solidFill>
          <a:ln cap="flat" cmpd="sng" w="9525">
            <a:solidFill>
              <a:srgbClr val="1D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9216923" y="4398264"/>
            <a:ext cx="420624" cy="420624"/>
          </a:xfrm>
          <a:prstGeom prst="ellipse">
            <a:avLst/>
          </a:prstGeom>
          <a:solidFill>
            <a:srgbClr val="071426"/>
          </a:solidFill>
          <a:ln cap="flat" cmpd="sng" w="12700">
            <a:solidFill>
              <a:srgbClr val="52B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9216923" y="439826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9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100" u="none" cap="none" strike="noStrike">
              <a:solidFill>
                <a:srgbClr val="52BD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216923" y="4910328"/>
            <a:ext cx="1941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POPIA-nakoming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9216923" y="5257800"/>
            <a:ext cx="194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Databeskerming ingebou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77240" y="6263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Akademia  ·  Funksiebestuurstelsel</a:t>
            </a:r>
            <a:r>
              <a:rPr lang="en-US" sz="1000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  ·  Span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8671255" y="62636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100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1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  /  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26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8778240" y="457210"/>
            <a:ext cx="5120700" cy="5120700"/>
          </a:xfrm>
          <a:prstGeom prst="ellipse">
            <a:avLst/>
          </a:prstGeom>
          <a:solidFill>
            <a:srgbClr val="0F2440"/>
          </a:solidFill>
          <a:ln cap="flat" cmpd="sng" w="12700">
            <a:solidFill>
              <a:srgbClr val="0F2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9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ONS BEGIN NOU</a:t>
            </a:r>
            <a:endParaRPr b="0" i="0" sz="1200" u="none" cap="none" strike="noStrike">
              <a:solidFill>
                <a:srgbClr val="52BD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777240" y="1920240"/>
            <a:ext cx="85953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Kom ons wys julle </a:t>
            </a:r>
            <a:r>
              <a:rPr b="1" lang="en-US" sz="5000">
                <a:solidFill>
                  <a:srgbClr val="52BDF2"/>
                </a:solidFill>
                <a:latin typeface="Calibri"/>
                <a:ea typeface="Calibri"/>
                <a:cs typeface="Calibri"/>
                <a:sym typeface="Calibri"/>
              </a:rPr>
              <a:t>AGORA</a:t>
            </a:r>
            <a:endParaRPr b="0" i="0" sz="5000" u="none" cap="none" strike="noStrike">
              <a:solidFill>
                <a:srgbClr val="52BD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77240" y="4846320"/>
            <a:ext cx="106372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Aanmelding  →  </a:t>
            </a:r>
            <a:r>
              <a:rPr lang="en-US" sz="1300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Admin Vloei</a:t>
            </a:r>
            <a:r>
              <a:rPr b="0" i="0" lang="en-US" sz="13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 →  Geleentheid ske</a:t>
            </a:r>
            <a:r>
              <a:rPr lang="en-US" sz="1300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3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ping  →  RSVP</a:t>
            </a:r>
            <a:r>
              <a:rPr lang="en-US" sz="1300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 →  QR </a:t>
            </a:r>
            <a:r>
              <a:rPr lang="en-US" sz="1300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Skandering</a:t>
            </a:r>
            <a:r>
              <a:rPr b="0" i="0" lang="en-US" sz="13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 →  Afsluiting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77240" y="6263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6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Akademia  ·  Funksiebestuurstelsel</a:t>
            </a:r>
            <a:r>
              <a:rPr lang="en-US" sz="1000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  ·  Span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8671255" y="62636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6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100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100" u="none" cap="none" strike="noStrike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  /  </a:t>
            </a:r>
            <a:r>
              <a:rPr lang="en-US" sz="1100">
                <a:solidFill>
                  <a:srgbClr val="93A6C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6" title="agora-icon-da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8875" y="996200"/>
            <a:ext cx="2865825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